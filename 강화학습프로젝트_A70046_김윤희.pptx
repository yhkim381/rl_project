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3" r:id="rId3"/>
    <p:sldId id="257" r:id="rId4"/>
    <p:sldId id="268" r:id="rId5"/>
    <p:sldId id="269" r:id="rId6"/>
    <p:sldId id="270" r:id="rId7"/>
    <p:sldId id="271" r:id="rId8"/>
    <p:sldId id="272" r:id="rId9"/>
    <p:sldId id="273" r:id="rId10"/>
    <p:sldId id="274" r:id="rId11"/>
    <p:sldId id="275" r:id="rId12"/>
    <p:sldId id="276" r:id="rId13"/>
    <p:sldId id="267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1C1C1"/>
    <a:srgbClr val="DA242C"/>
    <a:srgbClr val="FBFBFB"/>
    <a:srgbClr val="AB1E24"/>
    <a:srgbClr val="CE8E8C"/>
    <a:srgbClr val="D970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BAFE3F-ADE6-44AA-87DA-B63E3D589633}" v="361" dt="2025-12-07T06:22:07.3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150" autoAdjust="0"/>
    <p:restoredTop sz="94660"/>
  </p:normalViewPr>
  <p:slideViewPr>
    <p:cSldViewPr snapToGrid="0">
      <p:cViewPr varScale="1">
        <p:scale>
          <a:sx n="80" d="100"/>
          <a:sy n="80" d="100"/>
        </p:scale>
        <p:origin x="483" y="2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 b="0" i="0">
                <a:latin typeface="SOGANG UNIVERSITY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 b="0" i="0">
                <a:latin typeface="SOGANG UNIVERSITY" pitchFamily="2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SOGANG UNIVERSITY" pitchFamily="2" charset="-127"/>
              </a:defRPr>
            </a:lvl1pPr>
          </a:lstStyle>
          <a:p>
            <a:fld id="{91544872-44E8-473F-BAFC-BCC4BE4C4120}" type="datetimeFigureOut">
              <a:rPr lang="ko-KR" altLang="en-US" smtClean="0"/>
              <a:pPr/>
              <a:t>2025-12-07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SOGANG UNIVERSITY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SOGANG UNIVERSITY" pitchFamily="2" charset="-127"/>
              </a:defRPr>
            </a:lvl1pPr>
          </a:lstStyle>
          <a:p>
            <a:fld id="{5A36BB95-69C3-4E02-9324-2D774578A26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91733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latin typeface="SOGANG UNIVERSITY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="0" i="0">
                <a:latin typeface="SOGANG UNIVERSITY" pitchFamily="2" charset="-127"/>
              </a:defRPr>
            </a:lvl1pPr>
            <a:lvl2pPr>
              <a:defRPr b="0" i="0">
                <a:latin typeface="SOGANG UNIVERSITY" pitchFamily="2" charset="-127"/>
              </a:defRPr>
            </a:lvl2pPr>
            <a:lvl3pPr>
              <a:defRPr b="0" i="0">
                <a:latin typeface="SOGANG UNIVERSITY" pitchFamily="2" charset="-127"/>
              </a:defRPr>
            </a:lvl3pPr>
            <a:lvl4pPr>
              <a:defRPr b="0" i="0">
                <a:latin typeface="SOGANG UNIVERSITY" pitchFamily="2" charset="-127"/>
              </a:defRPr>
            </a:lvl4pPr>
            <a:lvl5pPr>
              <a:defRPr b="0" i="0">
                <a:latin typeface="SOGANG UNIVERSITY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SOGANG UNIVERSITY" pitchFamily="2" charset="-127"/>
              </a:defRPr>
            </a:lvl1pPr>
          </a:lstStyle>
          <a:p>
            <a:fld id="{91544872-44E8-473F-BAFC-BCC4BE4C4120}" type="datetimeFigureOut">
              <a:rPr lang="ko-KR" altLang="en-US" smtClean="0"/>
              <a:pPr/>
              <a:t>2025-12-07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SOGANG UNIVERSITY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SOGANG UNIVERSITY" pitchFamily="2" charset="-127"/>
              </a:defRPr>
            </a:lvl1pPr>
          </a:lstStyle>
          <a:p>
            <a:fld id="{5A36BB95-69C3-4E02-9324-2D774578A26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715772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 b="0" i="0">
                <a:latin typeface="SOGANG UNIVERSITY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SOGANG UNIVERSITY" pitchFamily="2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SOGANG UNIVERSITY" pitchFamily="2" charset="-127"/>
              </a:defRPr>
            </a:lvl1pPr>
          </a:lstStyle>
          <a:p>
            <a:fld id="{91544872-44E8-473F-BAFC-BCC4BE4C4120}" type="datetimeFigureOut">
              <a:rPr lang="ko-KR" altLang="en-US" smtClean="0"/>
              <a:pPr/>
              <a:t>2025-12-07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SOGANG UNIVERSITY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SOGANG UNIVERSITY" pitchFamily="2" charset="-127"/>
              </a:defRPr>
            </a:lvl1pPr>
          </a:lstStyle>
          <a:p>
            <a:fld id="{5A36BB95-69C3-4E02-9324-2D774578A26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228497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latin typeface="SOGANG UNIVERSITY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>
            <a:lvl1pPr>
              <a:defRPr b="0" i="0">
                <a:latin typeface="SOGANG UNIVERSITY" pitchFamily="2" charset="-127"/>
              </a:defRPr>
            </a:lvl1pPr>
            <a:lvl2pPr>
              <a:defRPr b="0" i="0">
                <a:latin typeface="SOGANG UNIVERSITY" pitchFamily="2" charset="-127"/>
              </a:defRPr>
            </a:lvl2pPr>
            <a:lvl3pPr>
              <a:defRPr b="0" i="0">
                <a:latin typeface="SOGANG UNIVERSITY" pitchFamily="2" charset="-127"/>
              </a:defRPr>
            </a:lvl3pPr>
            <a:lvl4pPr>
              <a:defRPr b="0" i="0">
                <a:latin typeface="SOGANG UNIVERSITY" pitchFamily="2" charset="-127"/>
              </a:defRPr>
            </a:lvl4pPr>
            <a:lvl5pPr>
              <a:defRPr b="0" i="0">
                <a:latin typeface="SOGANG UNIVERSITY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>
            <a:lvl1pPr>
              <a:defRPr b="0" i="0">
                <a:latin typeface="SOGANG UNIVERSITY" pitchFamily="2" charset="-127"/>
              </a:defRPr>
            </a:lvl1pPr>
            <a:lvl2pPr>
              <a:defRPr b="0" i="0">
                <a:latin typeface="SOGANG UNIVERSITY" pitchFamily="2" charset="-127"/>
              </a:defRPr>
            </a:lvl2pPr>
            <a:lvl3pPr>
              <a:defRPr b="0" i="0">
                <a:latin typeface="SOGANG UNIVERSITY" pitchFamily="2" charset="-127"/>
              </a:defRPr>
            </a:lvl3pPr>
            <a:lvl4pPr>
              <a:defRPr b="0" i="0">
                <a:latin typeface="SOGANG UNIVERSITY" pitchFamily="2" charset="-127"/>
              </a:defRPr>
            </a:lvl4pPr>
            <a:lvl5pPr>
              <a:defRPr b="0" i="0">
                <a:latin typeface="SOGANG UNIVERSITY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SOGANG UNIVERSITY" pitchFamily="2" charset="-127"/>
              </a:defRPr>
            </a:lvl1pPr>
          </a:lstStyle>
          <a:p>
            <a:fld id="{91544872-44E8-473F-BAFC-BCC4BE4C4120}" type="datetimeFigureOut">
              <a:rPr lang="ko-KR" altLang="en-US" smtClean="0"/>
              <a:pPr/>
              <a:t>2025-12-07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SOGANG UNIVERSITY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SOGANG UNIVERSITY" pitchFamily="2" charset="-127"/>
              </a:defRPr>
            </a:lvl1pPr>
          </a:lstStyle>
          <a:p>
            <a:fld id="{5A36BB95-69C3-4E02-9324-2D774578A26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546716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>
            <a:lvl1pPr>
              <a:defRPr b="0" i="0">
                <a:latin typeface="SOGANG UNIVERSITY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0" i="0">
                <a:latin typeface="SOGANG UNIVERSITY" pitchFamily="2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>
            <a:lvl1pPr>
              <a:defRPr b="0" i="0">
                <a:latin typeface="SOGANG UNIVERSITY" pitchFamily="2" charset="-127"/>
              </a:defRPr>
            </a:lvl1pPr>
            <a:lvl2pPr>
              <a:defRPr b="0" i="0">
                <a:latin typeface="SOGANG UNIVERSITY" pitchFamily="2" charset="-127"/>
              </a:defRPr>
            </a:lvl2pPr>
            <a:lvl3pPr>
              <a:defRPr b="0" i="0">
                <a:latin typeface="SOGANG UNIVERSITY" pitchFamily="2" charset="-127"/>
              </a:defRPr>
            </a:lvl3pPr>
            <a:lvl4pPr>
              <a:defRPr b="0" i="0">
                <a:latin typeface="SOGANG UNIVERSITY" pitchFamily="2" charset="-127"/>
              </a:defRPr>
            </a:lvl4pPr>
            <a:lvl5pPr>
              <a:defRPr b="0" i="0">
                <a:latin typeface="SOGANG UNIVERSITY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0" i="0">
                <a:latin typeface="SOGANG UNIVERSITY" pitchFamily="2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>
            <a:lvl1pPr>
              <a:defRPr b="0" i="0">
                <a:latin typeface="SOGANG UNIVERSITY" pitchFamily="2" charset="-127"/>
              </a:defRPr>
            </a:lvl1pPr>
            <a:lvl2pPr>
              <a:defRPr b="0" i="0">
                <a:latin typeface="SOGANG UNIVERSITY" pitchFamily="2" charset="-127"/>
              </a:defRPr>
            </a:lvl2pPr>
            <a:lvl3pPr>
              <a:defRPr b="0" i="0">
                <a:latin typeface="SOGANG UNIVERSITY" pitchFamily="2" charset="-127"/>
              </a:defRPr>
            </a:lvl3pPr>
            <a:lvl4pPr>
              <a:defRPr b="0" i="0">
                <a:latin typeface="SOGANG UNIVERSITY" pitchFamily="2" charset="-127"/>
              </a:defRPr>
            </a:lvl4pPr>
            <a:lvl5pPr>
              <a:defRPr b="0" i="0">
                <a:latin typeface="SOGANG UNIVERSITY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SOGANG UNIVERSITY" pitchFamily="2" charset="-127"/>
              </a:defRPr>
            </a:lvl1pPr>
          </a:lstStyle>
          <a:p>
            <a:fld id="{91544872-44E8-473F-BAFC-BCC4BE4C4120}" type="datetimeFigureOut">
              <a:rPr lang="ko-KR" altLang="en-US" smtClean="0"/>
              <a:pPr/>
              <a:t>2025-12-07</a:t>
            </a:fld>
            <a:endParaRPr lang="ko-KR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SOGANG UNIVERSITY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SOGANG UNIVERSITY" pitchFamily="2" charset="-127"/>
              </a:defRPr>
            </a:lvl1pPr>
          </a:lstStyle>
          <a:p>
            <a:fld id="{5A36BB95-69C3-4E02-9324-2D774578A26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63129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latin typeface="SOGANG UNIVERSITY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SOGANG UNIVERSITY" pitchFamily="2" charset="-127"/>
              </a:defRPr>
            </a:lvl1pPr>
          </a:lstStyle>
          <a:p>
            <a:fld id="{91544872-44E8-473F-BAFC-BCC4BE4C4120}" type="datetimeFigureOut">
              <a:rPr lang="ko-KR" altLang="en-US" smtClean="0"/>
              <a:pPr/>
              <a:t>2025-12-07</a:t>
            </a:fld>
            <a:endParaRPr lang="ko-KR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SOGANG UNIVERSITY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SOGANG UNIVERSITY" pitchFamily="2" charset="-127"/>
              </a:defRPr>
            </a:lvl1pPr>
          </a:lstStyle>
          <a:p>
            <a:fld id="{5A36BB95-69C3-4E02-9324-2D774578A26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07105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SOGANG UNIVERSITY" pitchFamily="2" charset="-127"/>
              </a:defRPr>
            </a:lvl1pPr>
          </a:lstStyle>
          <a:p>
            <a:fld id="{91544872-44E8-473F-BAFC-BCC4BE4C4120}" type="datetimeFigureOut">
              <a:rPr lang="ko-KR" altLang="en-US" smtClean="0"/>
              <a:pPr/>
              <a:t>2025-12-07</a:t>
            </a:fld>
            <a:endParaRPr lang="ko-KR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SOGANG UNIVERSITY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SOGANG UNIVERSITY" pitchFamily="2" charset="-127"/>
              </a:defRPr>
            </a:lvl1pPr>
          </a:lstStyle>
          <a:p>
            <a:fld id="{5A36BB95-69C3-4E02-9324-2D774578A26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183255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 b="0" i="0">
                <a:latin typeface="SOGANG UNIVERSITY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 b="0" i="0">
                <a:latin typeface="SOGANG UNIVERSITY" pitchFamily="2" charset="-127"/>
              </a:defRPr>
            </a:lvl1pPr>
            <a:lvl2pPr>
              <a:defRPr sz="2800" b="0" i="0">
                <a:latin typeface="SOGANG UNIVERSITY" pitchFamily="2" charset="-127"/>
              </a:defRPr>
            </a:lvl2pPr>
            <a:lvl3pPr>
              <a:defRPr sz="2400" b="0" i="0">
                <a:latin typeface="SOGANG UNIVERSITY" pitchFamily="2" charset="-127"/>
              </a:defRPr>
            </a:lvl3pPr>
            <a:lvl4pPr>
              <a:defRPr sz="2000" b="0" i="0">
                <a:latin typeface="SOGANG UNIVERSITY" pitchFamily="2" charset="-127"/>
              </a:defRPr>
            </a:lvl4pPr>
            <a:lvl5pPr>
              <a:defRPr sz="2000" b="0" i="0">
                <a:latin typeface="SOGANG UNIVERSITY" pitchFamily="2" charset="-127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 b="0" i="0">
                <a:latin typeface="SOGANG UNIVERSITY" pitchFamily="2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SOGANG UNIVERSITY" pitchFamily="2" charset="-127"/>
              </a:defRPr>
            </a:lvl1pPr>
          </a:lstStyle>
          <a:p>
            <a:fld id="{91544872-44E8-473F-BAFC-BCC4BE4C4120}" type="datetimeFigureOut">
              <a:rPr lang="ko-KR" altLang="en-US" smtClean="0"/>
              <a:pPr/>
              <a:t>2025-12-07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SOGANG UNIVERSITY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SOGANG UNIVERSITY" pitchFamily="2" charset="-127"/>
              </a:defRPr>
            </a:lvl1pPr>
          </a:lstStyle>
          <a:p>
            <a:fld id="{5A36BB95-69C3-4E02-9324-2D774578A26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570394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 b="0" i="0">
                <a:latin typeface="SOGANG UNIVERSITY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 b="0" i="0">
                <a:latin typeface="SOGANG UNIVERSITY" pitchFamily="2" charset="-127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dirty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 b="0" i="0">
                <a:latin typeface="SOGANG UNIVERSITY" pitchFamily="2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SOGANG UNIVERSITY" pitchFamily="2" charset="-127"/>
              </a:defRPr>
            </a:lvl1pPr>
          </a:lstStyle>
          <a:p>
            <a:fld id="{91544872-44E8-473F-BAFC-BCC4BE4C4120}" type="datetimeFigureOut">
              <a:rPr lang="ko-KR" altLang="en-US" smtClean="0"/>
              <a:pPr/>
              <a:t>2025-12-07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SOGANG UNIVERSITY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SOGANG UNIVERSITY" pitchFamily="2" charset="-127"/>
              </a:defRPr>
            </a:lvl1pPr>
          </a:lstStyle>
          <a:p>
            <a:fld id="{5A36BB95-69C3-4E02-9324-2D774578A26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185169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latin typeface="SOGANG UNIVERSITY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 b="0" i="0">
                <a:latin typeface="SOGANG UNIVERSITY" pitchFamily="2" charset="-127"/>
              </a:defRPr>
            </a:lvl1pPr>
            <a:lvl2pPr>
              <a:defRPr b="0" i="0">
                <a:latin typeface="SOGANG UNIVERSITY" pitchFamily="2" charset="-127"/>
              </a:defRPr>
            </a:lvl2pPr>
            <a:lvl3pPr>
              <a:defRPr b="0" i="0">
                <a:latin typeface="SOGANG UNIVERSITY" pitchFamily="2" charset="-127"/>
              </a:defRPr>
            </a:lvl3pPr>
            <a:lvl4pPr>
              <a:defRPr b="0" i="0">
                <a:latin typeface="SOGANG UNIVERSITY" pitchFamily="2" charset="-127"/>
              </a:defRPr>
            </a:lvl4pPr>
            <a:lvl5pPr>
              <a:defRPr b="0" i="0">
                <a:latin typeface="SOGANG UNIVERSITY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SOGANG UNIVERSITY" pitchFamily="2" charset="-127"/>
              </a:defRPr>
            </a:lvl1pPr>
          </a:lstStyle>
          <a:p>
            <a:fld id="{91544872-44E8-473F-BAFC-BCC4BE4C4120}" type="datetimeFigureOut">
              <a:rPr lang="ko-KR" altLang="en-US" smtClean="0"/>
              <a:pPr/>
              <a:t>2025-12-07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SOGANG UNIVERSITY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SOGANG UNIVERSITY" pitchFamily="2" charset="-127"/>
              </a:defRPr>
            </a:lvl1pPr>
          </a:lstStyle>
          <a:p>
            <a:fld id="{5A36BB95-69C3-4E02-9324-2D774578A26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749500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>
            <a:lvl1pPr>
              <a:defRPr b="0" i="0">
                <a:latin typeface="SOGANG UNIVERSITY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>
            <a:lvl1pPr>
              <a:defRPr b="0" i="0">
                <a:latin typeface="SOGANG UNIVERSITY" pitchFamily="2" charset="-127"/>
              </a:defRPr>
            </a:lvl1pPr>
            <a:lvl2pPr>
              <a:defRPr b="0" i="0">
                <a:latin typeface="SOGANG UNIVERSITY" pitchFamily="2" charset="-127"/>
              </a:defRPr>
            </a:lvl2pPr>
            <a:lvl3pPr>
              <a:defRPr b="0" i="0">
                <a:latin typeface="SOGANG UNIVERSITY" pitchFamily="2" charset="-127"/>
              </a:defRPr>
            </a:lvl3pPr>
            <a:lvl4pPr>
              <a:defRPr b="0" i="0">
                <a:latin typeface="SOGANG UNIVERSITY" pitchFamily="2" charset="-127"/>
              </a:defRPr>
            </a:lvl4pPr>
            <a:lvl5pPr>
              <a:defRPr b="0" i="0">
                <a:latin typeface="SOGANG UNIVERSITY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SOGANG UNIVERSITY" pitchFamily="2" charset="-127"/>
              </a:defRPr>
            </a:lvl1pPr>
          </a:lstStyle>
          <a:p>
            <a:fld id="{91544872-44E8-473F-BAFC-BCC4BE4C4120}" type="datetimeFigureOut">
              <a:rPr lang="ko-KR" altLang="en-US" smtClean="0"/>
              <a:pPr/>
              <a:t>2025-12-07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SOGANG UNIVERSITY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SOGANG UNIVERSITY" pitchFamily="2" charset="-127"/>
              </a:defRPr>
            </a:lvl1pPr>
          </a:lstStyle>
          <a:p>
            <a:fld id="{5A36BB95-69C3-4E02-9324-2D774578A26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676608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SOGANG UNIVERSITY" pitchFamily="2" charset="-127"/>
              </a:defRPr>
            </a:lvl1pPr>
          </a:lstStyle>
          <a:p>
            <a:fld id="{91544872-44E8-473F-BAFC-BCC4BE4C4120}" type="datetimeFigureOut">
              <a:rPr lang="ko-KR" altLang="en-US" smtClean="0"/>
              <a:pPr/>
              <a:t>2025-12-07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SOGANG UNIVERSITY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SOGANG UNIVERSITY" pitchFamily="2" charset="-127"/>
              </a:defRPr>
            </a:lvl1pPr>
          </a:lstStyle>
          <a:p>
            <a:fld id="{5A36BB95-69C3-4E02-9324-2D774578A26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83694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SOGANG UNIVERSITY" pitchFamily="2" charset="-127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SOGANG UNIVERSITY" pitchFamily="2" charset="-127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SOGANG UNIVERSITY" pitchFamily="2" charset="-127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SOGANG UNIVERSITY" pitchFamily="2" charset="-127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SOGANG UNIVERSITY" pitchFamily="2" charset="-127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SOGANG UNIVERSITY" pitchFamily="2" charset="-127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yhkim381/RL_project.git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707.06347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3E2EB24-8FB4-4671-BF41-6CCB9388F5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57" y="5976"/>
            <a:ext cx="9144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45F1D80-BA58-4EBF-8DE4-3277E17BCF46}"/>
              </a:ext>
            </a:extLst>
          </p:cNvPr>
          <p:cNvSpPr txBox="1"/>
          <p:nvPr/>
        </p:nvSpPr>
        <p:spPr>
          <a:xfrm>
            <a:off x="115771" y="2869919"/>
            <a:ext cx="893717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dirty="0">
                <a:latin typeface="+mn-ea"/>
              </a:rPr>
              <a:t>PPO </a:t>
            </a:r>
            <a:r>
              <a:rPr lang="ko-KR" altLang="en-US" sz="2800" b="1" dirty="0">
                <a:latin typeface="+mn-ea"/>
              </a:rPr>
              <a:t>알고리즘 구현 및 </a:t>
            </a:r>
            <a:r>
              <a:rPr lang="ko-KR" altLang="en-US" sz="2800" b="1" dirty="0" err="1">
                <a:latin typeface="+mn-ea"/>
              </a:rPr>
              <a:t>하이퍼파라미터</a:t>
            </a:r>
            <a:r>
              <a:rPr lang="ko-KR" altLang="en-US" sz="2800" b="1" dirty="0">
                <a:latin typeface="+mn-ea"/>
              </a:rPr>
              <a:t> 민감도 분석 </a:t>
            </a:r>
            <a:r>
              <a:rPr lang="en-US" altLang="ko-KR" sz="2800" b="1" dirty="0">
                <a:latin typeface="+mn-ea"/>
              </a:rPr>
              <a:t>(Proximal Policy Optimization on LunarLander-v2)</a:t>
            </a:r>
            <a:endParaRPr lang="en-US" altLang="ko-KR" sz="2800" b="1" dirty="0">
              <a:latin typeface="+mn-ea"/>
              <a:cs typeface="72 Black" panose="020B0A04030603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5A438B-5C9B-4712-A152-DCAE26D925C8}"/>
              </a:ext>
            </a:extLst>
          </p:cNvPr>
          <p:cNvSpPr txBox="1"/>
          <p:nvPr/>
        </p:nvSpPr>
        <p:spPr>
          <a:xfrm>
            <a:off x="1405129" y="5403863"/>
            <a:ext cx="63584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72 Black" panose="020B0A04030603020204" pitchFamily="34" charset="0"/>
              </a:rPr>
              <a:t>Github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72 Black" panose="020B0A04030603020204" pitchFamily="34" charset="0"/>
              </a:rPr>
              <a:t> Link: 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72 Black" panose="020B0A04030603020204" pitchFamily="34" charset="0"/>
                <a:hlinkClick r:id="rId3"/>
              </a:rPr>
              <a:t>https://github.com/yhkim381/RL_project.git</a:t>
            </a:r>
            <a:endParaRPr lang="en-US" altLang="ko-KR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72 Black" panose="020B0A04030603020204" pitchFamily="34" charset="0"/>
            </a:endParaRPr>
          </a:p>
          <a:p>
            <a:pPr algn="ctr"/>
            <a:endParaRPr lang="en-US" altLang="ko-KR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72 Black" panose="020B0A04030603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A7AC539-949B-D8FC-7BE5-87078ADC2AC0}"/>
              </a:ext>
            </a:extLst>
          </p:cNvPr>
          <p:cNvSpPr txBox="1"/>
          <p:nvPr/>
        </p:nvSpPr>
        <p:spPr>
          <a:xfrm>
            <a:off x="3211505" y="6118531"/>
            <a:ext cx="27457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+mn-ea"/>
                <a:cs typeface="72 Black" panose="020B0A04030603020204" pitchFamily="34" charset="0"/>
              </a:rPr>
              <a:t>A70046</a:t>
            </a:r>
            <a:r>
              <a:rPr lang="ko-KR" altLang="en-US" sz="1600" dirty="0">
                <a:latin typeface="+mn-ea"/>
                <a:cs typeface="72 Black" panose="020B0A04030603020204" pitchFamily="34" charset="0"/>
              </a:rPr>
              <a:t> 김윤희</a:t>
            </a:r>
            <a:endParaRPr lang="en-US" altLang="ko-KR" sz="1600" dirty="0">
              <a:latin typeface="+mn-ea"/>
              <a:cs typeface="72 Black" panose="020B0A040306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06443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FC9CCEB3-8A9D-AAD9-D160-92226BA16AF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13"/>
          <a:stretch/>
        </p:blipFill>
        <p:spPr>
          <a:xfrm>
            <a:off x="2528121" y="0"/>
            <a:ext cx="6628236" cy="6858000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C1BFC6EB-3089-4145-96BA-0128BD63549D}"/>
              </a:ext>
            </a:extLst>
          </p:cNvPr>
          <p:cNvSpPr/>
          <p:nvPr/>
        </p:nvSpPr>
        <p:spPr>
          <a:xfrm>
            <a:off x="1647826" y="1721817"/>
            <a:ext cx="6310315" cy="4236618"/>
          </a:xfrm>
          <a:prstGeom prst="rect">
            <a:avLst/>
          </a:prstGeom>
          <a:solidFill>
            <a:srgbClr val="AB1E24"/>
          </a:solidFill>
          <a:ln>
            <a:noFill/>
          </a:ln>
          <a:effectLst>
            <a:outerShdw blurRad="179707" dist="58279" dir="19200000" sx="99000" sy="99000" algn="ctr" rotWithShape="0">
              <a:srgbClr val="000000">
                <a:alpha val="21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+mn-ea"/>
            </a:endParaRPr>
          </a:p>
        </p:txBody>
      </p:sp>
      <p:pic>
        <p:nvPicPr>
          <p:cNvPr id="38" name="그림 37">
            <a:extLst>
              <a:ext uri="{FF2B5EF4-FFF2-40B4-BE49-F238E27FC236}">
                <a16:creationId xmlns:a16="http://schemas.microsoft.com/office/drawing/2014/main" id="{970ECF31-931A-48F8-BD61-2580893600C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5083" y="169895"/>
            <a:ext cx="625398" cy="222895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B218D2A2-00EB-4BCA-A330-008D1ABDF64B}"/>
              </a:ext>
            </a:extLst>
          </p:cNvPr>
          <p:cNvGrpSpPr/>
          <p:nvPr/>
        </p:nvGrpSpPr>
        <p:grpSpPr>
          <a:xfrm>
            <a:off x="1490660" y="1881182"/>
            <a:ext cx="6310316" cy="4236613"/>
            <a:chOff x="1081084" y="1536144"/>
            <a:chExt cx="6919916" cy="4815301"/>
          </a:xfrm>
        </p:grpSpPr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171B745E-F11E-4714-BB28-FD2244950D1F}"/>
                </a:ext>
              </a:extLst>
            </p:cNvPr>
            <p:cNvSpPr/>
            <p:nvPr/>
          </p:nvSpPr>
          <p:spPr>
            <a:xfrm>
              <a:off x="1081085" y="1536144"/>
              <a:ext cx="6919915" cy="481530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154119" dist="49281" dir="7140000" sx="98818" sy="98818" algn="ctr" rotWithShape="0">
                <a:srgbClr val="000000">
                  <a:alpha val="48274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n-ea"/>
              </a:endParaRPr>
            </a:p>
          </p:txBody>
        </p:sp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0F891956-EE91-4792-A051-60A1397CDD4D}"/>
                </a:ext>
              </a:extLst>
            </p:cNvPr>
            <p:cNvCxnSpPr/>
            <p:nvPr/>
          </p:nvCxnSpPr>
          <p:spPr>
            <a:xfrm>
              <a:off x="1081085" y="2777828"/>
              <a:ext cx="6919915" cy="0"/>
            </a:xfrm>
            <a:prstGeom prst="line">
              <a:avLst/>
            </a:prstGeom>
            <a:ln w="19050">
              <a:solidFill>
                <a:schemeClr val="dk1">
                  <a:alpha val="22000"/>
                </a:schemeClr>
              </a:solidFill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9CA706EA-088A-49A0-8668-C71B040C0E54}"/>
                </a:ext>
              </a:extLst>
            </p:cNvPr>
            <p:cNvCxnSpPr/>
            <p:nvPr/>
          </p:nvCxnSpPr>
          <p:spPr>
            <a:xfrm>
              <a:off x="1081085" y="3968024"/>
              <a:ext cx="6919915" cy="0"/>
            </a:xfrm>
            <a:prstGeom prst="line">
              <a:avLst/>
            </a:prstGeom>
            <a:ln w="19050">
              <a:solidFill>
                <a:schemeClr val="dk1">
                  <a:alpha val="22000"/>
                </a:schemeClr>
              </a:solidFill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9D4842C-42BE-4BD1-86DA-59F88B7AD169}"/>
                </a:ext>
              </a:extLst>
            </p:cNvPr>
            <p:cNvCxnSpPr/>
            <p:nvPr/>
          </p:nvCxnSpPr>
          <p:spPr>
            <a:xfrm>
              <a:off x="1081084" y="5158218"/>
              <a:ext cx="6919915" cy="0"/>
            </a:xfrm>
            <a:prstGeom prst="line">
              <a:avLst/>
            </a:prstGeom>
            <a:ln w="19050">
              <a:solidFill>
                <a:schemeClr val="dk1">
                  <a:alpha val="22000"/>
                </a:schemeClr>
              </a:solidFill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D3C7C93F-69E4-4B28-BF15-7B8303EF5F02}"/>
              </a:ext>
            </a:extLst>
          </p:cNvPr>
          <p:cNvGrpSpPr/>
          <p:nvPr/>
        </p:nvGrpSpPr>
        <p:grpSpPr>
          <a:xfrm>
            <a:off x="2928406" y="528166"/>
            <a:ext cx="3434820" cy="734680"/>
            <a:chOff x="2105025" y="704851"/>
            <a:chExt cx="4838697" cy="1076325"/>
          </a:xfrm>
        </p:grpSpPr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CDBAB747-E132-42DC-A016-C42100C46942}"/>
                </a:ext>
              </a:extLst>
            </p:cNvPr>
            <p:cNvSpPr/>
            <p:nvPr/>
          </p:nvSpPr>
          <p:spPr>
            <a:xfrm>
              <a:off x="2105025" y="704851"/>
              <a:ext cx="4838697" cy="1076325"/>
            </a:xfrm>
            <a:prstGeom prst="rect">
              <a:avLst/>
            </a:prstGeom>
            <a:solidFill>
              <a:srgbClr val="AB1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n-ea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DCDFC32-E2DC-4A47-B5B2-97331E1A9083}"/>
                </a:ext>
              </a:extLst>
            </p:cNvPr>
            <p:cNvSpPr txBox="1"/>
            <p:nvPr/>
          </p:nvSpPr>
          <p:spPr>
            <a:xfrm>
              <a:off x="2825353" y="858292"/>
              <a:ext cx="3493296" cy="766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800" dirty="0">
                  <a:solidFill>
                    <a:schemeClr val="bg1"/>
                  </a:solidFill>
                  <a:latin typeface="+mn-ea"/>
                </a:rPr>
                <a:t>CONTENTS</a:t>
              </a:r>
              <a:endParaRPr lang="ko-KR" altLang="en-US" sz="2800" dirty="0">
                <a:solidFill>
                  <a:schemeClr val="bg1"/>
                </a:solidFill>
                <a:latin typeface="+mn-ea"/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247425FD-2AB5-42C1-B2D5-170092F6D66E}"/>
              </a:ext>
            </a:extLst>
          </p:cNvPr>
          <p:cNvSpPr txBox="1"/>
          <p:nvPr/>
        </p:nvSpPr>
        <p:spPr>
          <a:xfrm>
            <a:off x="2969345" y="2461491"/>
            <a:ext cx="3801569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200" dirty="0">
                <a:latin typeface="+mn-ea"/>
              </a:rPr>
              <a:t>제목 및 팀원 정보 </a:t>
            </a:r>
            <a:r>
              <a:rPr lang="en-US" altLang="ko-KR" sz="1200" dirty="0">
                <a:latin typeface="+mn-ea"/>
              </a:rPr>
              <a:t>/ </a:t>
            </a:r>
            <a:r>
              <a:rPr lang="ko-KR" altLang="en-US" sz="1200" dirty="0">
                <a:latin typeface="+mn-ea"/>
              </a:rPr>
              <a:t>목차 </a:t>
            </a:r>
            <a:r>
              <a:rPr lang="en-US" altLang="ko-KR" sz="1200" dirty="0">
                <a:latin typeface="+mn-ea"/>
              </a:rPr>
              <a:t>/ </a:t>
            </a:r>
            <a:r>
              <a:rPr lang="ko-KR" altLang="en-US" sz="1200" dirty="0">
                <a:latin typeface="+mn-ea"/>
              </a:rPr>
              <a:t>개요 및 주제 선정</a:t>
            </a:r>
            <a:endParaRPr lang="en-US" altLang="ko-KR" sz="1200" dirty="0">
              <a:latin typeface="+mn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91F331D-CB4B-4A36-B84B-A09F63E433DD}"/>
              </a:ext>
            </a:extLst>
          </p:cNvPr>
          <p:cNvSpPr txBox="1"/>
          <p:nvPr/>
        </p:nvSpPr>
        <p:spPr>
          <a:xfrm>
            <a:off x="2974106" y="2022597"/>
            <a:ext cx="2332679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b="1" dirty="0">
                <a:latin typeface="+mn-ea"/>
              </a:rPr>
              <a:t>서론</a:t>
            </a:r>
            <a:endParaRPr lang="en-US" altLang="ko-KR" b="1" dirty="0">
              <a:latin typeface="+mn-ea"/>
              <a:cs typeface="72 Black" panose="020B0A04030603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C52B66F-75F2-443F-BCB1-B98E649A6608}"/>
              </a:ext>
            </a:extLst>
          </p:cNvPr>
          <p:cNvSpPr txBox="1"/>
          <p:nvPr/>
        </p:nvSpPr>
        <p:spPr>
          <a:xfrm>
            <a:off x="2974107" y="3556718"/>
            <a:ext cx="4679233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200" dirty="0">
                <a:latin typeface="+mn-ea"/>
              </a:rPr>
              <a:t>문제 정의 및 환경 </a:t>
            </a:r>
            <a:r>
              <a:rPr lang="en-US" altLang="ko-KR" sz="1200" dirty="0">
                <a:latin typeface="+mn-ea"/>
              </a:rPr>
              <a:t>/ </a:t>
            </a:r>
            <a:r>
              <a:rPr lang="ko-KR" altLang="en-US" sz="1200" dirty="0">
                <a:latin typeface="+mn-ea"/>
              </a:rPr>
              <a:t>알고리즘 및 구현 </a:t>
            </a:r>
            <a:r>
              <a:rPr lang="en-US" altLang="ko-KR" sz="1200" dirty="0">
                <a:latin typeface="+mn-ea"/>
              </a:rPr>
              <a:t>/ </a:t>
            </a:r>
            <a:r>
              <a:rPr lang="ko-KR" altLang="en-US" sz="1200" dirty="0">
                <a:latin typeface="+mn-ea"/>
              </a:rPr>
              <a:t>실험 환경 및 코드 구조</a:t>
            </a:r>
            <a:endParaRPr lang="en-US" altLang="ko-KR" sz="1200" dirty="0">
              <a:latin typeface="+mn-ea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99FA645-7BDE-4EEC-B908-2D55C4E5229E}"/>
              </a:ext>
            </a:extLst>
          </p:cNvPr>
          <p:cNvSpPr txBox="1"/>
          <p:nvPr/>
        </p:nvSpPr>
        <p:spPr>
          <a:xfrm>
            <a:off x="2978869" y="3117823"/>
            <a:ext cx="271980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b="1" dirty="0">
                <a:latin typeface="+mn-ea"/>
                <a:cs typeface="72 Black" panose="020B0A04030603020204" pitchFamily="34" charset="0"/>
              </a:rPr>
              <a:t>방법론</a:t>
            </a:r>
            <a:endParaRPr lang="en-US" altLang="ko-KR" b="1" dirty="0">
              <a:latin typeface="+mn-ea"/>
              <a:cs typeface="72 Black" panose="020B0A04030603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34A883F-055D-4D73-981E-929E9FCD9638}"/>
              </a:ext>
            </a:extLst>
          </p:cNvPr>
          <p:cNvSpPr txBox="1"/>
          <p:nvPr/>
        </p:nvSpPr>
        <p:spPr>
          <a:xfrm>
            <a:off x="2983631" y="4599305"/>
            <a:ext cx="3972340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200" dirty="0">
                <a:latin typeface="+mn-ea"/>
              </a:rPr>
              <a:t>전체 실험 설계 </a:t>
            </a:r>
            <a:r>
              <a:rPr lang="en-US" altLang="ko-KR" sz="1200" dirty="0">
                <a:latin typeface="+mn-ea"/>
              </a:rPr>
              <a:t>/ </a:t>
            </a:r>
            <a:r>
              <a:rPr lang="ko-KR" altLang="en-US" sz="1200" dirty="0">
                <a:latin typeface="+mn-ea"/>
              </a:rPr>
              <a:t>각 실험 결과 </a:t>
            </a:r>
            <a:r>
              <a:rPr lang="en-US" altLang="ko-KR" sz="1200" dirty="0">
                <a:latin typeface="+mn-ea"/>
              </a:rPr>
              <a:t>/ </a:t>
            </a:r>
            <a:r>
              <a:rPr lang="ko-KR" altLang="en-US" sz="1200" dirty="0">
                <a:latin typeface="+mn-ea"/>
              </a:rPr>
              <a:t>종합 비교 분석</a:t>
            </a:r>
            <a:endParaRPr lang="en-US" altLang="ko-KR" sz="1200" dirty="0">
              <a:latin typeface="+mn-ea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47231D9-AF2E-4362-989B-30C638379CD9}"/>
              </a:ext>
            </a:extLst>
          </p:cNvPr>
          <p:cNvSpPr txBox="1"/>
          <p:nvPr/>
        </p:nvSpPr>
        <p:spPr>
          <a:xfrm>
            <a:off x="2988392" y="4160411"/>
            <a:ext cx="492552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b="1" dirty="0">
                <a:latin typeface="+mn-ea"/>
                <a:cs typeface="72 Black" panose="020B0A04030603020204" pitchFamily="34" charset="0"/>
              </a:rPr>
              <a:t>실험 설계 및 결과</a:t>
            </a:r>
            <a:endParaRPr lang="en-US" altLang="ko-KR" b="1" dirty="0">
              <a:latin typeface="+mn-ea"/>
              <a:cs typeface="72 Black" panose="020B0A04030603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5F232F6-1ED7-4903-86BC-2DCE1F144C0F}"/>
              </a:ext>
            </a:extLst>
          </p:cNvPr>
          <p:cNvSpPr txBox="1"/>
          <p:nvPr/>
        </p:nvSpPr>
        <p:spPr>
          <a:xfrm>
            <a:off x="2969345" y="5646464"/>
            <a:ext cx="3171825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200" dirty="0">
                <a:latin typeface="+mn-ea"/>
              </a:rPr>
              <a:t>결론</a:t>
            </a:r>
            <a:endParaRPr lang="en-US" altLang="ko-KR" sz="1200" dirty="0">
              <a:latin typeface="+mn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F9E46E2-0EDE-4432-A21C-5204021E3D03}"/>
              </a:ext>
            </a:extLst>
          </p:cNvPr>
          <p:cNvSpPr txBox="1"/>
          <p:nvPr/>
        </p:nvSpPr>
        <p:spPr>
          <a:xfrm>
            <a:off x="2974106" y="5207570"/>
            <a:ext cx="3389119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b="1" dirty="0">
                <a:latin typeface="+mn-ea"/>
                <a:cs typeface="72 Black" panose="020B0A04030603020204" pitchFamily="34" charset="0"/>
              </a:rPr>
              <a:t>결론</a:t>
            </a:r>
            <a:endParaRPr lang="en-US" altLang="ko-KR" b="1" dirty="0">
              <a:latin typeface="+mn-ea"/>
              <a:cs typeface="72 Black" panose="020B0A04030603020204" pitchFamily="34" charset="0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299E5D63-C0BA-CDDC-773B-22A1EFF47B6E}"/>
              </a:ext>
            </a:extLst>
          </p:cNvPr>
          <p:cNvGrpSpPr/>
          <p:nvPr/>
        </p:nvGrpSpPr>
        <p:grpSpPr>
          <a:xfrm>
            <a:off x="1900089" y="2023943"/>
            <a:ext cx="800100" cy="800100"/>
            <a:chOff x="1823887" y="1828871"/>
            <a:chExt cx="800100" cy="800100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AF5C521C-0261-477C-A7D4-AE45CE3D9E80}"/>
                </a:ext>
              </a:extLst>
            </p:cNvPr>
            <p:cNvSpPr/>
            <p:nvPr/>
          </p:nvSpPr>
          <p:spPr>
            <a:xfrm>
              <a:off x="1823887" y="1828871"/>
              <a:ext cx="800100" cy="800100"/>
            </a:xfrm>
            <a:prstGeom prst="ellipse">
              <a:avLst/>
            </a:prstGeom>
            <a:solidFill>
              <a:srgbClr val="C1C1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n-ea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302F3F9F-F69B-4301-8CAC-F0856D6BE0FC}"/>
                </a:ext>
              </a:extLst>
            </p:cNvPr>
            <p:cNvSpPr txBox="1"/>
            <p:nvPr/>
          </p:nvSpPr>
          <p:spPr>
            <a:xfrm>
              <a:off x="1995955" y="1936534"/>
              <a:ext cx="455964" cy="5847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3200" dirty="0">
                  <a:latin typeface="+mn-ea"/>
                  <a:cs typeface="72 Black" panose="020B0A04030603020204" pitchFamily="34" charset="0"/>
                </a:rPr>
                <a:t>1</a:t>
              </a: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3E8DC858-4333-5099-6165-C111EA31F8D0}"/>
              </a:ext>
            </a:extLst>
          </p:cNvPr>
          <p:cNvGrpSpPr/>
          <p:nvPr/>
        </p:nvGrpSpPr>
        <p:grpSpPr>
          <a:xfrm>
            <a:off x="1900089" y="3091514"/>
            <a:ext cx="800100" cy="800100"/>
            <a:chOff x="1823887" y="2859866"/>
            <a:chExt cx="800100" cy="800100"/>
          </a:xfrm>
        </p:grpSpPr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6D0245A4-3154-4291-A26D-2ADB5C43B791}"/>
                </a:ext>
              </a:extLst>
            </p:cNvPr>
            <p:cNvSpPr/>
            <p:nvPr/>
          </p:nvSpPr>
          <p:spPr>
            <a:xfrm>
              <a:off x="1823887" y="2859866"/>
              <a:ext cx="800100" cy="800100"/>
            </a:xfrm>
            <a:prstGeom prst="ellipse">
              <a:avLst/>
            </a:prstGeom>
            <a:solidFill>
              <a:srgbClr val="C1C1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AF835CD-9152-4B29-9556-34548A55858B}"/>
                </a:ext>
              </a:extLst>
            </p:cNvPr>
            <p:cNvSpPr txBox="1"/>
            <p:nvPr/>
          </p:nvSpPr>
          <p:spPr>
            <a:xfrm>
              <a:off x="1995955" y="2967529"/>
              <a:ext cx="455964" cy="5847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3200" dirty="0">
                  <a:latin typeface="+mn-ea"/>
                  <a:cs typeface="72 Black" panose="020B0A04030603020204" pitchFamily="34" charset="0"/>
                </a:rPr>
                <a:t>2</a:t>
              </a: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F4244021-2DF9-558B-3803-E8FB23733DEF}"/>
              </a:ext>
            </a:extLst>
          </p:cNvPr>
          <p:cNvGrpSpPr/>
          <p:nvPr/>
        </p:nvGrpSpPr>
        <p:grpSpPr>
          <a:xfrm>
            <a:off x="1900089" y="4135276"/>
            <a:ext cx="800100" cy="800100"/>
            <a:chOff x="1823887" y="3891436"/>
            <a:chExt cx="800100" cy="800100"/>
          </a:xfrm>
        </p:grpSpPr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216CAEBB-8497-49D1-B1F1-A4130E774E83}"/>
                </a:ext>
              </a:extLst>
            </p:cNvPr>
            <p:cNvSpPr/>
            <p:nvPr/>
          </p:nvSpPr>
          <p:spPr>
            <a:xfrm>
              <a:off x="1823887" y="3891436"/>
              <a:ext cx="800100" cy="800100"/>
            </a:xfrm>
            <a:prstGeom prst="ellipse">
              <a:avLst/>
            </a:prstGeom>
            <a:solidFill>
              <a:srgbClr val="C1C1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A767C1C9-3F47-490A-B338-0FD0B1DF985F}"/>
                </a:ext>
              </a:extLst>
            </p:cNvPr>
            <p:cNvSpPr txBox="1"/>
            <p:nvPr/>
          </p:nvSpPr>
          <p:spPr>
            <a:xfrm>
              <a:off x="1995955" y="3999099"/>
              <a:ext cx="455964" cy="5847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3200" dirty="0">
                  <a:latin typeface="+mn-ea"/>
                  <a:cs typeface="72 Black" panose="020B0A04030603020204" pitchFamily="34" charset="0"/>
                </a:rPr>
                <a:t>3</a:t>
              </a: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C5B7B906-8F47-D0AA-6A59-1811124A14DD}"/>
              </a:ext>
            </a:extLst>
          </p:cNvPr>
          <p:cNvGrpSpPr/>
          <p:nvPr/>
        </p:nvGrpSpPr>
        <p:grpSpPr>
          <a:xfrm>
            <a:off x="1900089" y="5152793"/>
            <a:ext cx="800100" cy="800100"/>
            <a:chOff x="1823887" y="4884569"/>
            <a:chExt cx="800100" cy="800100"/>
          </a:xfrm>
        </p:grpSpPr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72EAC3E0-C8A9-4862-84D4-47F78F1548DF}"/>
                </a:ext>
              </a:extLst>
            </p:cNvPr>
            <p:cNvSpPr/>
            <p:nvPr/>
          </p:nvSpPr>
          <p:spPr>
            <a:xfrm>
              <a:off x="1823887" y="4884569"/>
              <a:ext cx="800100" cy="800100"/>
            </a:xfrm>
            <a:prstGeom prst="ellipse">
              <a:avLst/>
            </a:prstGeom>
            <a:solidFill>
              <a:srgbClr val="C1C1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5ACB3CAE-2182-4F5E-A8D4-DAA2F44BE89A}"/>
                </a:ext>
              </a:extLst>
            </p:cNvPr>
            <p:cNvSpPr txBox="1"/>
            <p:nvPr/>
          </p:nvSpPr>
          <p:spPr>
            <a:xfrm>
              <a:off x="1995955" y="4992232"/>
              <a:ext cx="455964" cy="5847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3200" dirty="0">
                  <a:latin typeface="+mn-ea"/>
                  <a:cs typeface="72 Black" panose="020B0A04030603020204" pitchFamily="34" charset="0"/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047430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833043C6-D7D9-44DF-8A94-1B7AAB986EED}"/>
              </a:ext>
            </a:extLst>
          </p:cNvPr>
          <p:cNvSpPr/>
          <p:nvPr/>
        </p:nvSpPr>
        <p:spPr>
          <a:xfrm flipV="1">
            <a:off x="422559" y="1024993"/>
            <a:ext cx="8400765" cy="45719"/>
          </a:xfrm>
          <a:prstGeom prst="rect">
            <a:avLst/>
          </a:prstGeom>
          <a:solidFill>
            <a:srgbClr val="AB1E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C1C1C1"/>
              </a:solidFill>
              <a:latin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36C78A-5374-45A2-BB79-0EBD23F21D8D}"/>
              </a:ext>
            </a:extLst>
          </p:cNvPr>
          <p:cNvSpPr txBox="1"/>
          <p:nvPr/>
        </p:nvSpPr>
        <p:spPr>
          <a:xfrm>
            <a:off x="422559" y="1152538"/>
            <a:ext cx="840076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본 프로젝트는 강화학습의 표준인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PPO 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알고리즘을 구현하여 논문의 결과를 재연하고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, </a:t>
            </a:r>
            <a:r>
              <a:rPr lang="ko-KR" alt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하이퍼파라미터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(Clipping, Entropy)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가 학습 안정성에 미치는 영향을 실험적으로 검증하는 것을 목표로 합니다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.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8CD4D26-8F3F-CB46-6A39-10127934A1C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5083" y="169895"/>
            <a:ext cx="625398" cy="22289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12EDAAB-1A5A-D0E7-6289-EE34CCFE4147}"/>
              </a:ext>
            </a:extLst>
          </p:cNvPr>
          <p:cNvSpPr txBox="1"/>
          <p:nvPr/>
        </p:nvSpPr>
        <p:spPr>
          <a:xfrm>
            <a:off x="7921287" y="6411106"/>
            <a:ext cx="9591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latin typeface="+mn-ea"/>
                <a:cs typeface="72 Black" panose="020B0A04030603020204" pitchFamily="34" charset="0"/>
              </a:rPr>
              <a:t>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369755-A484-DE40-F4CA-576B4999807E}"/>
              </a:ext>
            </a:extLst>
          </p:cNvPr>
          <p:cNvSpPr txBox="1"/>
          <p:nvPr/>
        </p:nvSpPr>
        <p:spPr>
          <a:xfrm>
            <a:off x="371618" y="2130140"/>
            <a:ext cx="8400764" cy="37024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프로젝트 목표</a:t>
            </a:r>
            <a:endParaRPr lang="en-US" altLang="ko-KR" sz="14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강화학습의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Standard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알고리즘인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PPO(Proximal Policy Optimization)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논문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(Schulman et al., 2017)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의 결과를 재연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.</a:t>
            </a:r>
          </a:p>
          <a:p>
            <a:pPr marL="1200150" lvl="2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논문 링크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: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hlinkClick r:id="rId3"/>
              </a:rPr>
              <a:t>https://arxiv.org/abs/1707.06347</a:t>
            </a: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논문에서 제시된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Clipping Mechanism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이 실제로 학습 안정성에 얼마나 결정적인 역할을 하는지 검증</a:t>
            </a: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Streamlit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을 활용한 실시간 학습 모니터링 시스템 구축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.</a:t>
            </a: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주제 선정 이유</a:t>
            </a:r>
            <a:endParaRPr lang="en-US" altLang="ko-KR" sz="14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중요성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: PPO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는 현재 가장 널리 쓰이는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On-policy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알고리즘이나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, 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하이퍼파라미터에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따른 성능 차이가 큼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.</a:t>
            </a: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차별점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: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단순 구현을 넘어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, 'Clipping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이 과도할 때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'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와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'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탐험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(Entropy)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이 부족할 때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'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발생하는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Policy Collapse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현상을 시각적으로 분석하고자 함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1F2D9D3-6A68-0CDF-D900-8DD4564C9ED3}"/>
              </a:ext>
            </a:extLst>
          </p:cNvPr>
          <p:cNvSpPr txBox="1"/>
          <p:nvPr/>
        </p:nvSpPr>
        <p:spPr>
          <a:xfrm>
            <a:off x="422559" y="428002"/>
            <a:ext cx="53835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+mn-ea"/>
                <a:cs typeface="72 Black" panose="020B0A04030603020204" pitchFamily="34" charset="0"/>
              </a:rPr>
              <a:t>개요 및 주제 선정</a:t>
            </a:r>
            <a:endParaRPr lang="en-US" altLang="ko-KR" sz="2400" b="1" dirty="0">
              <a:latin typeface="+mn-ea"/>
              <a:cs typeface="72 Black" panose="020B0A040306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32666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BE25D-9950-59E9-040E-891420543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279280B0-3FAA-CE0A-3447-82BD39A1C4E8}"/>
              </a:ext>
            </a:extLst>
          </p:cNvPr>
          <p:cNvSpPr/>
          <p:nvPr/>
        </p:nvSpPr>
        <p:spPr>
          <a:xfrm flipV="1">
            <a:off x="422559" y="1024993"/>
            <a:ext cx="8400765" cy="45719"/>
          </a:xfrm>
          <a:prstGeom prst="rect">
            <a:avLst/>
          </a:prstGeom>
          <a:solidFill>
            <a:srgbClr val="AB1E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C1C1C1"/>
              </a:solidFill>
              <a:latin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9931201-9923-C533-2685-0FE8DD48031B}"/>
              </a:ext>
            </a:extLst>
          </p:cNvPr>
          <p:cNvSpPr txBox="1"/>
          <p:nvPr/>
        </p:nvSpPr>
        <p:spPr>
          <a:xfrm>
            <a:off x="422559" y="1206038"/>
            <a:ext cx="84007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LunarLander-v2 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환경에서 안전한 착륙을 목표로 하는 최적화 문제를 정의하고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이를 해결하기 위한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8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차원 상태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(State)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와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4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가지 이산 행동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(Action), 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보상 체계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(Reward)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를 설계하였습니다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DA35C7-4D61-6216-5AD0-3E669E7E5341}"/>
              </a:ext>
            </a:extLst>
          </p:cNvPr>
          <p:cNvSpPr txBox="1"/>
          <p:nvPr/>
        </p:nvSpPr>
        <p:spPr>
          <a:xfrm>
            <a:off x="422559" y="428002"/>
            <a:ext cx="53835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+mn-ea"/>
                <a:cs typeface="72 Black" panose="020B0A04030603020204" pitchFamily="34" charset="0"/>
              </a:rPr>
              <a:t>문제 정의</a:t>
            </a:r>
            <a:endParaRPr lang="en-US" altLang="ko-KR" sz="2400" b="1" dirty="0">
              <a:latin typeface="+mn-ea"/>
              <a:cs typeface="72 Black" panose="020B0A04030603020204" pitchFamily="34" charset="0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8182F60-438F-AF71-B3B2-BF25E57433D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5083" y="169895"/>
            <a:ext cx="625398" cy="22289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FF0021C-28F4-09E7-C531-B15AEB8CCFF4}"/>
              </a:ext>
            </a:extLst>
          </p:cNvPr>
          <p:cNvSpPr txBox="1"/>
          <p:nvPr/>
        </p:nvSpPr>
        <p:spPr>
          <a:xfrm>
            <a:off x="7921287" y="6411106"/>
            <a:ext cx="9591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latin typeface="+mn-ea"/>
                <a:cs typeface="72 Black" panose="020B0A04030603020204" pitchFamily="34" charset="0"/>
              </a:rPr>
              <a:t>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ACEBC1F-A4F8-0E7C-2B3D-076373CF957B}"/>
                  </a:ext>
                </a:extLst>
              </p:cNvPr>
              <p:cNvSpPr txBox="1"/>
              <p:nvPr/>
            </p:nvSpPr>
            <p:spPr>
              <a:xfrm>
                <a:off x="371618" y="1864584"/>
                <a:ext cx="8400764" cy="49092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400" b="1" dirty="0">
                    <a:latin typeface="+mn-ea"/>
                  </a:rPr>
                  <a:t>환경 </a:t>
                </a:r>
                <a:r>
                  <a:rPr lang="en-US" altLang="ko-KR" sz="1400" b="1" dirty="0">
                    <a:latin typeface="+mn-ea"/>
                  </a:rPr>
                  <a:t>(Environment):</a:t>
                </a:r>
                <a:r>
                  <a:rPr lang="en-US" altLang="ko-KR" sz="1400" dirty="0">
                    <a:latin typeface="+mn-ea"/>
                  </a:rPr>
                  <a:t> </a:t>
                </a:r>
                <a:r>
                  <a:rPr lang="en-US" altLang="ko-KR" sz="1400" i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ea"/>
                  </a:rPr>
                  <a:t>LunarLander-v2</a:t>
                </a:r>
                <a:r>
                  <a:rPr lang="en-US" altLang="ko-KR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ea"/>
                  </a:rPr>
                  <a:t> </a:t>
                </a:r>
              </a:p>
              <a:p>
                <a:pPr marL="285750" indent="-28575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400" b="1" dirty="0">
                    <a:latin typeface="+mn-ea"/>
                  </a:rPr>
                  <a:t>목표 </a:t>
                </a:r>
                <a:r>
                  <a:rPr lang="en-US" altLang="ko-KR" sz="1400" b="1" dirty="0">
                    <a:latin typeface="+mn-ea"/>
                  </a:rPr>
                  <a:t>(Objective):</a:t>
                </a:r>
                <a:r>
                  <a:rPr lang="ko-KR" altLang="en-US" sz="1400" dirty="0">
                    <a:latin typeface="+mn-ea"/>
                  </a:rPr>
                  <a:t> 착륙선이 달 표면의 깃발 사이</a:t>
                </a:r>
                <a:r>
                  <a:rPr lang="en-US" altLang="ko-KR" sz="1400" dirty="0">
                    <a:latin typeface="+mn-ea"/>
                  </a:rPr>
                  <a:t>(0,0)</a:t>
                </a:r>
                <a:r>
                  <a:rPr lang="ko-KR" altLang="en-US" sz="1400" dirty="0">
                    <a:latin typeface="+mn-ea"/>
                  </a:rPr>
                  <a:t>에 속도 </a:t>
                </a:r>
                <a:r>
                  <a:rPr lang="en-US" altLang="ko-KR" sz="1400" dirty="0">
                    <a:latin typeface="+mn-ea"/>
                  </a:rPr>
                  <a:t>0</a:t>
                </a:r>
                <a:r>
                  <a:rPr lang="ko-KR" altLang="en-US" sz="1400" dirty="0">
                    <a:latin typeface="+mn-ea"/>
                  </a:rPr>
                  <a:t>으로 부드럽게 착륙하는 것</a:t>
                </a:r>
                <a:r>
                  <a:rPr lang="en-US" altLang="ko-KR" sz="1400" dirty="0">
                    <a:latin typeface="+mn-ea"/>
                  </a:rPr>
                  <a:t>.</a:t>
                </a:r>
              </a:p>
              <a:p>
                <a:pPr marL="285750" indent="-28575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400" b="1" dirty="0">
                    <a:latin typeface="+mn-ea"/>
                  </a:rPr>
                  <a:t>상태 공간 </a:t>
                </a:r>
                <a:r>
                  <a:rPr lang="en-US" altLang="ko-KR" sz="1400" b="1" dirty="0">
                    <a:latin typeface="+mn-ea"/>
                  </a:rPr>
                  <a:t>(Observation Space)</a:t>
                </a:r>
              </a:p>
              <a:p>
                <a:pPr marL="742950" lvl="1" indent="-28575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latin typeface="+mn-ea"/>
                  </a:rPr>
                  <a:t>위치</a:t>
                </a:r>
                <a:r>
                  <a:rPr lang="en-US" altLang="ko-KR" sz="1400" dirty="0">
                    <a:latin typeface="+mn-ea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latin typeface="+mn-ea"/>
                      </a:rPr>
                      <m:t>𝑥</m:t>
                    </m:r>
                  </m:oMath>
                </a14:m>
                <a:r>
                  <a:rPr lang="en-US" altLang="ko-KR" sz="1400" dirty="0">
                    <a:latin typeface="+mn-ea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latin typeface="+mn-ea"/>
                      </a:rPr>
                      <m:t>𝑦</m:t>
                    </m:r>
                  </m:oMath>
                </a14:m>
                <a:endParaRPr lang="en-US" altLang="ko-KR" sz="1400" dirty="0">
                  <a:latin typeface="+mn-ea"/>
                </a:endParaRPr>
              </a:p>
              <a:p>
                <a:pPr marL="742950" lvl="1" indent="-28575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latin typeface="+mn-ea"/>
                  </a:rPr>
                  <a:t>좌표속도</a:t>
                </a:r>
                <a:r>
                  <a:rPr lang="en-US" altLang="ko-KR" sz="1400" dirty="0">
                    <a:latin typeface="+mn-ea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0" i="1" smtClean="0">
                            <a:latin typeface="+mn-ea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+mn-ea"/>
                          </a:rPr>
                          <m:t>𝑣</m:t>
                        </m:r>
                      </m:e>
                      <m:sub>
                        <m:r>
                          <a:rPr lang="en-US" altLang="ko-KR" sz="1400" b="0" i="1" smtClean="0">
                            <a:latin typeface="+mn-ea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altLang="ko-KR" sz="1400" dirty="0">
                    <a:latin typeface="+mn-ea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smtClean="0">
                            <a:latin typeface="+mn-ea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+mn-ea"/>
                          </a:rPr>
                          <m:t>𝑣</m:t>
                        </m:r>
                      </m:e>
                      <m:sub>
                        <m:r>
                          <a:rPr lang="en-US" altLang="ko-KR" sz="1400" b="0" i="1" smtClean="0">
                            <a:latin typeface="+mn-ea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altLang="ko-KR" sz="1400" dirty="0">
                    <a:latin typeface="+mn-ea"/>
                  </a:rPr>
                  <a:t> (</a:t>
                </a:r>
                <a:r>
                  <a:rPr lang="ko-KR" altLang="en-US" sz="1400" dirty="0">
                    <a:latin typeface="+mn-ea"/>
                  </a:rPr>
                  <a:t>선형 속도</a:t>
                </a:r>
                <a:r>
                  <a:rPr lang="en-US" altLang="ko-KR" sz="1400" dirty="0">
                    <a:latin typeface="+mn-ea"/>
                  </a:rPr>
                  <a:t>)</a:t>
                </a:r>
              </a:p>
              <a:p>
                <a:pPr marL="742950" lvl="1" indent="-28575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latin typeface="+mn-ea"/>
                  </a:rPr>
                  <a:t>각도</a:t>
                </a:r>
                <a:r>
                  <a:rPr lang="en-US" altLang="ko-KR" sz="1400" dirty="0">
                    <a:latin typeface="+mn-ea"/>
                  </a:rPr>
                  <a:t>: </a:t>
                </a:r>
                <a:r>
                  <a:rPr lang="el-GR" altLang="ko-KR" sz="1400" dirty="0">
                    <a:latin typeface="+mn-ea"/>
                  </a:rPr>
                  <a:t>θ </a:t>
                </a:r>
                <a:r>
                  <a:rPr lang="en-US" altLang="ko-KR" sz="1400" dirty="0">
                    <a:latin typeface="+mn-ea"/>
                  </a:rPr>
                  <a:t>(</a:t>
                </a:r>
                <a:r>
                  <a:rPr lang="ko-KR" altLang="en-US" sz="1400" dirty="0">
                    <a:latin typeface="+mn-ea"/>
                  </a:rPr>
                  <a:t>기체 각도</a:t>
                </a:r>
                <a:r>
                  <a:rPr lang="en-US" altLang="ko-KR" sz="1400" dirty="0">
                    <a:latin typeface="+mn-ea"/>
                  </a:rPr>
                  <a:t>), </a:t>
                </a:r>
                <a:r>
                  <a:rPr lang="el-GR" altLang="ko-KR" sz="1400" dirty="0">
                    <a:latin typeface="+mn-ea"/>
                  </a:rPr>
                  <a:t>ω</a:t>
                </a:r>
                <a:r>
                  <a:rPr lang="en-US" altLang="ko-KR" sz="1400" dirty="0">
                    <a:latin typeface="+mn-ea"/>
                  </a:rPr>
                  <a:t> (</a:t>
                </a:r>
                <a:r>
                  <a:rPr lang="ko-KR" altLang="en-US" sz="1400" dirty="0">
                    <a:latin typeface="+mn-ea"/>
                  </a:rPr>
                  <a:t>각속도</a:t>
                </a:r>
                <a:r>
                  <a:rPr lang="en-US" altLang="ko-KR" sz="1400" dirty="0">
                    <a:latin typeface="+mn-ea"/>
                  </a:rPr>
                  <a:t>)</a:t>
                </a:r>
              </a:p>
              <a:p>
                <a:pPr marL="742950" lvl="1" indent="-28575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latin typeface="+mn-ea"/>
                  </a:rPr>
                  <a:t>접지 여부</a:t>
                </a:r>
                <a:r>
                  <a:rPr lang="en-US" altLang="ko-KR" sz="1400" dirty="0">
                    <a:latin typeface="+mn-ea"/>
                  </a:rPr>
                  <a:t>: </a:t>
                </a:r>
                <a:r>
                  <a:rPr lang="ko-KR" altLang="en-US" sz="1400" dirty="0">
                    <a:latin typeface="+mn-ea"/>
                  </a:rPr>
                  <a:t>왼쪽 다리</a:t>
                </a:r>
                <a:r>
                  <a:rPr lang="en-US" altLang="ko-KR" sz="1400" dirty="0">
                    <a:latin typeface="+mn-ea"/>
                  </a:rPr>
                  <a:t>(Boolean), </a:t>
                </a:r>
                <a:r>
                  <a:rPr lang="ko-KR" altLang="en-US" sz="1400" dirty="0">
                    <a:latin typeface="+mn-ea"/>
                  </a:rPr>
                  <a:t>오른쪽 다리</a:t>
                </a:r>
                <a:r>
                  <a:rPr lang="en-US" altLang="ko-KR" sz="1400" dirty="0">
                    <a:latin typeface="+mn-ea"/>
                  </a:rPr>
                  <a:t>(Boolean)</a:t>
                </a:r>
              </a:p>
              <a:p>
                <a:pPr marL="285750" indent="-28575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400" b="1" dirty="0">
                    <a:latin typeface="+mn-ea"/>
                  </a:rPr>
                  <a:t>행동 공간 </a:t>
                </a:r>
                <a:r>
                  <a:rPr lang="en-US" altLang="ko-KR" sz="1400" b="1" dirty="0">
                    <a:latin typeface="+mn-ea"/>
                  </a:rPr>
                  <a:t>(Action Space)</a:t>
                </a:r>
              </a:p>
              <a:p>
                <a:pPr marL="742950" lvl="1" indent="-28575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400" dirty="0">
                    <a:latin typeface="+mn-ea"/>
                  </a:rPr>
                  <a:t>0: </a:t>
                </a:r>
                <a:r>
                  <a:rPr lang="ko-KR" altLang="en-US" sz="1400" dirty="0">
                    <a:latin typeface="+mn-ea"/>
                  </a:rPr>
                  <a:t>아무것도 안함</a:t>
                </a:r>
                <a:endParaRPr lang="en-US" altLang="ko-KR" sz="1400" dirty="0">
                  <a:latin typeface="+mn-ea"/>
                </a:endParaRPr>
              </a:p>
              <a:p>
                <a:pPr marL="742950" lvl="1" indent="-28575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400" dirty="0">
                    <a:latin typeface="+mn-ea"/>
                  </a:rPr>
                  <a:t>1: </a:t>
                </a:r>
                <a:r>
                  <a:rPr lang="ko-KR" altLang="en-US" sz="1400" dirty="0">
                    <a:latin typeface="+mn-ea"/>
                  </a:rPr>
                  <a:t>왼쪽 엔진 점화</a:t>
                </a:r>
                <a:endParaRPr lang="en-US" altLang="ko-KR" sz="1400" dirty="0">
                  <a:latin typeface="+mn-ea"/>
                </a:endParaRPr>
              </a:p>
              <a:p>
                <a:pPr marL="742950" lvl="1" indent="-28575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400" dirty="0">
                    <a:latin typeface="+mn-ea"/>
                  </a:rPr>
                  <a:t>2: </a:t>
                </a:r>
                <a:r>
                  <a:rPr lang="ko-KR" altLang="en-US" sz="1400" dirty="0">
                    <a:latin typeface="+mn-ea"/>
                  </a:rPr>
                  <a:t>메인 엔진 점화</a:t>
                </a:r>
                <a:endParaRPr lang="en-US" altLang="ko-KR" sz="1400" dirty="0">
                  <a:latin typeface="+mn-ea"/>
                </a:endParaRPr>
              </a:p>
              <a:p>
                <a:pPr marL="742950" lvl="1" indent="-28575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400" dirty="0">
                    <a:latin typeface="+mn-ea"/>
                  </a:rPr>
                  <a:t>3: </a:t>
                </a:r>
                <a:r>
                  <a:rPr lang="ko-KR" altLang="en-US" sz="1400" dirty="0">
                    <a:latin typeface="+mn-ea"/>
                  </a:rPr>
                  <a:t>오른쪽 엔진 점화</a:t>
                </a:r>
                <a:endParaRPr lang="en-US" altLang="ko-KR" sz="1400" dirty="0">
                  <a:latin typeface="+mn-ea"/>
                </a:endParaRPr>
              </a:p>
              <a:p>
                <a:pPr marL="285750" indent="-28575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400" b="1" dirty="0">
                    <a:latin typeface="+mn-ea"/>
                  </a:rPr>
                  <a:t>보상 설계 </a:t>
                </a:r>
                <a:r>
                  <a:rPr lang="en-US" altLang="ko-KR" sz="1400" b="1" dirty="0">
                    <a:latin typeface="+mn-ea"/>
                  </a:rPr>
                  <a:t>(Reward Function)</a:t>
                </a:r>
              </a:p>
              <a:p>
                <a:pPr marL="742950" lvl="1" indent="-28575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latin typeface="+mn-ea"/>
                  </a:rPr>
                  <a:t>착륙 패드로 이동 시 보상 증가</a:t>
                </a:r>
                <a:r>
                  <a:rPr lang="en-US" altLang="ko-KR" sz="1400" dirty="0">
                    <a:latin typeface="+mn-ea"/>
                  </a:rPr>
                  <a:t>, </a:t>
                </a:r>
                <a:r>
                  <a:rPr lang="ko-KR" altLang="en-US" sz="1400" dirty="0">
                    <a:latin typeface="+mn-ea"/>
                  </a:rPr>
                  <a:t>멀어지면 감소</a:t>
                </a:r>
                <a:r>
                  <a:rPr lang="en-US" altLang="ko-KR" sz="1400" dirty="0">
                    <a:latin typeface="+mn-ea"/>
                  </a:rPr>
                  <a:t>.</a:t>
                </a:r>
              </a:p>
              <a:p>
                <a:pPr marL="742950" lvl="1" indent="-28575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latin typeface="+mn-ea"/>
                  </a:rPr>
                  <a:t>안전 착륙 시</a:t>
                </a:r>
                <a:r>
                  <a:rPr lang="en-US" altLang="ko-KR" sz="1400" dirty="0">
                    <a:latin typeface="+mn-ea"/>
                  </a:rPr>
                  <a:t>: +100</a:t>
                </a:r>
                <a:r>
                  <a:rPr lang="ko-KR" altLang="en-US" sz="1400" dirty="0">
                    <a:latin typeface="+mn-ea"/>
                  </a:rPr>
                  <a:t>점 </a:t>
                </a:r>
                <a:r>
                  <a:rPr lang="en-US" altLang="ko-KR" sz="1400" dirty="0">
                    <a:latin typeface="+mn-ea"/>
                  </a:rPr>
                  <a:t>/ </a:t>
                </a:r>
                <a:r>
                  <a:rPr lang="ko-KR" altLang="en-US" sz="1400" dirty="0">
                    <a:latin typeface="+mn-ea"/>
                  </a:rPr>
                  <a:t>추락 시</a:t>
                </a:r>
                <a:r>
                  <a:rPr lang="en-US" altLang="ko-KR" sz="1400" dirty="0">
                    <a:latin typeface="+mn-ea"/>
                  </a:rPr>
                  <a:t>: -100</a:t>
                </a:r>
                <a:r>
                  <a:rPr lang="ko-KR" altLang="en-US" sz="1400" dirty="0">
                    <a:latin typeface="+mn-ea"/>
                  </a:rPr>
                  <a:t>점</a:t>
                </a:r>
                <a:r>
                  <a:rPr lang="en-US" altLang="ko-KR" sz="1400" dirty="0">
                    <a:latin typeface="+mn-ea"/>
                  </a:rPr>
                  <a:t>.</a:t>
                </a:r>
              </a:p>
              <a:p>
                <a:pPr marL="742950" lvl="1" indent="-28575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latin typeface="+mn-ea"/>
                  </a:rPr>
                  <a:t>엔진 사용 시</a:t>
                </a:r>
                <a:r>
                  <a:rPr lang="en-US" altLang="ko-KR" sz="1400" dirty="0">
                    <a:latin typeface="+mn-ea"/>
                  </a:rPr>
                  <a:t>: </a:t>
                </a:r>
                <a:r>
                  <a:rPr lang="ko-KR" altLang="en-US" sz="1400" dirty="0">
                    <a:latin typeface="+mn-ea"/>
                  </a:rPr>
                  <a:t>매 프레임마다 소량의 음수 보상</a:t>
                </a:r>
                <a:r>
                  <a:rPr lang="en-US" altLang="ko-KR" sz="1400" dirty="0">
                    <a:latin typeface="+mn-ea"/>
                  </a:rPr>
                  <a:t>(Penalty) (</a:t>
                </a:r>
                <a:r>
                  <a:rPr lang="ko-KR" altLang="en-US" sz="1400" dirty="0">
                    <a:latin typeface="+mn-ea"/>
                  </a:rPr>
                  <a:t>연료 효율성 유도</a:t>
                </a:r>
                <a:r>
                  <a:rPr lang="en-US" altLang="ko-KR" sz="1400" dirty="0">
                    <a:latin typeface="+mn-ea"/>
                  </a:rPr>
                  <a:t>).</a:t>
                </a:r>
              </a:p>
              <a:p>
                <a:pPr marL="742950" lvl="1" indent="-28575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latin typeface="+mn-ea"/>
                  </a:rPr>
                  <a:t>해결 기준</a:t>
                </a:r>
                <a:r>
                  <a:rPr lang="en-US" altLang="ko-KR" sz="1400" dirty="0">
                    <a:latin typeface="+mn-ea"/>
                  </a:rPr>
                  <a:t>: </a:t>
                </a:r>
                <a:r>
                  <a:rPr lang="ko-KR" altLang="en-US" sz="1400" dirty="0">
                    <a:latin typeface="+mn-ea"/>
                  </a:rPr>
                  <a:t>최근 </a:t>
                </a:r>
                <a:r>
                  <a:rPr lang="en-US" altLang="ko-KR" sz="1400" dirty="0">
                    <a:latin typeface="+mn-ea"/>
                  </a:rPr>
                  <a:t>100 </a:t>
                </a:r>
                <a:r>
                  <a:rPr lang="ko-KR" altLang="en-US" sz="1400" dirty="0">
                    <a:latin typeface="+mn-ea"/>
                  </a:rPr>
                  <a:t>에피소드 평균 점수 </a:t>
                </a:r>
                <a:r>
                  <a:rPr lang="en-US" altLang="ko-KR" sz="1400" dirty="0">
                    <a:latin typeface="+mn-ea"/>
                  </a:rPr>
                  <a:t>200</a:t>
                </a:r>
                <a:r>
                  <a:rPr lang="ko-KR" altLang="en-US" sz="1400" dirty="0">
                    <a:latin typeface="+mn-ea"/>
                  </a:rPr>
                  <a:t>점 이상</a:t>
                </a:r>
                <a:r>
                  <a:rPr lang="en-US" altLang="ko-KR" sz="1400" dirty="0">
                    <a:latin typeface="+mn-ea"/>
                  </a:rPr>
                  <a:t>.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ACEBC1F-A4F8-0E7C-2B3D-076373CF95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618" y="1864584"/>
                <a:ext cx="8400764" cy="4909293"/>
              </a:xfrm>
              <a:prstGeom prst="rect">
                <a:avLst/>
              </a:prstGeom>
              <a:blipFill>
                <a:blip r:embed="rId3"/>
                <a:stretch>
                  <a:fillRect l="-14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5725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214B8-9FAB-3C30-723D-11EAF977A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4E6F18D7-DB44-4F25-7D65-07250E99E402}"/>
              </a:ext>
            </a:extLst>
          </p:cNvPr>
          <p:cNvSpPr/>
          <p:nvPr/>
        </p:nvSpPr>
        <p:spPr>
          <a:xfrm flipV="1">
            <a:off x="422559" y="1024993"/>
            <a:ext cx="8400765" cy="45719"/>
          </a:xfrm>
          <a:prstGeom prst="rect">
            <a:avLst/>
          </a:prstGeom>
          <a:solidFill>
            <a:srgbClr val="AB1E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C1C1C1"/>
              </a:solidFill>
              <a:latin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1CFE16-916F-A947-F20E-BB4DF5EF09F1}"/>
              </a:ext>
            </a:extLst>
          </p:cNvPr>
          <p:cNvSpPr txBox="1"/>
          <p:nvPr/>
        </p:nvSpPr>
        <p:spPr>
          <a:xfrm>
            <a:off x="422559" y="1206038"/>
            <a:ext cx="84007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급격한 정책 변화를 방지하는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Clipped Surrogate Objective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를 핵심으로 하는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PPO 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알고리즘을 채택하여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신뢰 구간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내에서의 안정적인 학습을 유도하였습니다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DD6304-963C-6C87-90F2-D46F5E5B67F8}"/>
              </a:ext>
            </a:extLst>
          </p:cNvPr>
          <p:cNvSpPr txBox="1"/>
          <p:nvPr/>
        </p:nvSpPr>
        <p:spPr>
          <a:xfrm>
            <a:off x="422559" y="428002"/>
            <a:ext cx="53835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>
                <a:latin typeface="+mn-ea"/>
                <a:cs typeface="72 Black" panose="020B0A04030603020204" pitchFamily="34" charset="0"/>
              </a:rPr>
              <a:t>알고리즘 설계 </a:t>
            </a:r>
            <a:r>
              <a:rPr lang="en-US" altLang="ko-KR" sz="2400" b="1">
                <a:latin typeface="+mn-ea"/>
                <a:cs typeface="72 Black" panose="020B0A04030603020204" pitchFamily="34" charset="0"/>
              </a:rPr>
              <a:t>(PPO Algorithm)</a:t>
            </a:r>
            <a:endParaRPr lang="en-US" altLang="ko-KR" sz="2400" b="1" dirty="0">
              <a:latin typeface="+mn-ea"/>
              <a:cs typeface="72 Black" panose="020B0A04030603020204" pitchFamily="34" charset="0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5E50667-1548-9C3C-1E5A-8B5E9FF7D34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5083" y="169895"/>
            <a:ext cx="625398" cy="22289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F557AB9-CFB3-5799-1B68-AF862C297B6A}"/>
              </a:ext>
            </a:extLst>
          </p:cNvPr>
          <p:cNvSpPr txBox="1"/>
          <p:nvPr/>
        </p:nvSpPr>
        <p:spPr>
          <a:xfrm>
            <a:off x="7921287" y="6411106"/>
            <a:ext cx="9591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latin typeface="+mn-ea"/>
                <a:cs typeface="72 Black" panose="020B0A04030603020204" pitchFamily="34" charset="0"/>
              </a:rPr>
              <a:t>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A695F1A-9307-8CAA-B106-45708B289690}"/>
                  </a:ext>
                </a:extLst>
              </p:cNvPr>
              <p:cNvSpPr txBox="1"/>
              <p:nvPr/>
            </p:nvSpPr>
            <p:spPr>
              <a:xfrm>
                <a:off x="371618" y="1864584"/>
                <a:ext cx="8400764" cy="4842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400" b="1" dirty="0">
                    <a:latin typeface="+mn-ea"/>
                  </a:rPr>
                  <a:t>핵심 아이디어</a:t>
                </a:r>
                <a:r>
                  <a:rPr lang="en-US" altLang="ko-KR" sz="1400" b="1" dirty="0">
                    <a:latin typeface="+mn-ea"/>
                  </a:rPr>
                  <a:t>: Clipped Surrogate Objective</a:t>
                </a:r>
              </a:p>
              <a:p>
                <a:pPr marL="742950" lvl="1" indent="-28575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latin typeface="+mn-ea"/>
                  </a:rPr>
                  <a:t>기존 </a:t>
                </a:r>
                <a:r>
                  <a:rPr lang="en-US" altLang="ko-KR" sz="1400" dirty="0">
                    <a:latin typeface="+mn-ea"/>
                  </a:rPr>
                  <a:t>Policy Gradient</a:t>
                </a:r>
                <a:r>
                  <a:rPr lang="ko-KR" altLang="en-US" sz="1400" dirty="0">
                    <a:latin typeface="+mn-ea"/>
                  </a:rPr>
                  <a:t>의 급격한 업데이트를 방지하기 위해 </a:t>
                </a:r>
                <a:r>
                  <a:rPr lang="en-US" altLang="ko-KR" sz="1400" dirty="0">
                    <a:latin typeface="+mn-ea"/>
                  </a:rPr>
                  <a:t>Trust Region(</a:t>
                </a:r>
                <a:r>
                  <a:rPr lang="ko-KR" altLang="en-US" sz="1400" dirty="0">
                    <a:latin typeface="+mn-ea"/>
                  </a:rPr>
                  <a:t>신뢰 구간</a:t>
                </a:r>
                <a:r>
                  <a:rPr lang="en-US" altLang="ko-KR" sz="1400" dirty="0">
                    <a:latin typeface="+mn-ea"/>
                  </a:rPr>
                  <a:t>) </a:t>
                </a:r>
                <a:r>
                  <a:rPr lang="ko-KR" altLang="en-US" sz="1400" dirty="0">
                    <a:latin typeface="+mn-ea"/>
                  </a:rPr>
                  <a:t>내에서만 정책을 업데이트함</a:t>
                </a:r>
                <a:r>
                  <a:rPr lang="en-US" altLang="ko-KR" sz="1400" dirty="0">
                    <a:latin typeface="+mn-ea"/>
                  </a:rPr>
                  <a:t>.</a:t>
                </a:r>
              </a:p>
              <a:p>
                <a:pPr lvl="1">
                  <a:lnSpc>
                    <a:spcPct val="130000"/>
                  </a:lnSpc>
                </a:pPr>
                <a:endParaRPr lang="en-US" altLang="ko-KR" sz="1400" dirty="0">
                  <a:latin typeface="+mn-ea"/>
                </a:endParaRPr>
              </a:p>
              <a:p>
                <a:pPr marL="285750" indent="-28575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400" b="1" dirty="0">
                    <a:latin typeface="+mn-ea"/>
                  </a:rPr>
                  <a:t>손실 함수 </a:t>
                </a:r>
                <a:r>
                  <a:rPr lang="en-US" altLang="ko-KR" sz="1400" b="1" dirty="0">
                    <a:latin typeface="+mn-ea"/>
                  </a:rPr>
                  <a:t>(Loss Function)</a:t>
                </a:r>
              </a:p>
              <a:p>
                <a:pPr marL="742950" lvl="1" indent="-28575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400" i="1" smtClean="0">
                            <a:latin typeface="+mn-ea"/>
                          </a:rPr>
                        </m:ctrlPr>
                      </m:sSupPr>
                      <m:e>
                        <m:r>
                          <a:rPr lang="en-US" altLang="ko-KR" sz="1400" b="0" i="1" smtClean="0">
                            <a:latin typeface="+mn-ea"/>
                          </a:rPr>
                          <m:t>𝐿</m:t>
                        </m:r>
                      </m:e>
                      <m:sup>
                        <m:r>
                          <a:rPr lang="en-US" altLang="ko-KR" sz="1400" b="0" i="1" smtClean="0">
                            <a:latin typeface="+mn-ea"/>
                          </a:rPr>
                          <m:t>𝐶𝐿𝐼𝑃</m:t>
                        </m:r>
                      </m:sup>
                    </m:sSup>
                    <m:d>
                      <m:dPr>
                        <m:ctrlPr>
                          <a:rPr lang="en-US" altLang="ko-KR" sz="1400" b="0" i="1" smtClean="0">
                            <a:latin typeface="+mn-ea"/>
                          </a:rPr>
                        </m:ctrlPr>
                      </m:dPr>
                      <m:e>
                        <m:r>
                          <a:rPr lang="ko-KR" altLang="en-US" sz="1400" b="0" i="1" smtClean="0">
                            <a:latin typeface="+mn-ea"/>
                          </a:rPr>
                          <m:t>𝜃</m:t>
                        </m:r>
                      </m:e>
                    </m:d>
                    <m:r>
                      <a:rPr lang="en-US" altLang="ko-KR" sz="1400" b="0" i="1" smtClean="0">
                        <a:latin typeface="+mn-ea"/>
                      </a:rPr>
                      <m:t>=</m:t>
                    </m:r>
                    <m:sSub>
                      <m:sSubPr>
                        <m:ctrlPr>
                          <a:rPr lang="en-US" altLang="ko-KR" sz="1400" b="0" i="1" smtClean="0">
                            <a:latin typeface="+mn-ea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ko-KR" sz="1400" b="0" i="1" smtClean="0">
                                <a:latin typeface="+mn-ea"/>
                              </a:rPr>
                            </m:ctrlPr>
                          </m:accPr>
                          <m:e>
                            <m:r>
                              <a:rPr lang="en-US" altLang="ko-KR" sz="1400" b="0" i="1" smtClean="0">
                                <a:latin typeface="+mn-ea"/>
                              </a:rPr>
                              <m:t>𝐸</m:t>
                            </m:r>
                          </m:e>
                        </m:acc>
                      </m:e>
                      <m:sub>
                        <m:r>
                          <a:rPr lang="en-US" altLang="ko-KR" sz="1400" b="0" i="1" smtClean="0">
                            <a:latin typeface="+mn-ea"/>
                          </a:rPr>
                          <m:t>𝑡</m:t>
                        </m:r>
                      </m:sub>
                    </m:sSub>
                    <m:r>
                      <a:rPr lang="en-US" altLang="ko-KR" sz="1400" b="0" i="1" smtClean="0">
                        <a:latin typeface="+mn-ea"/>
                      </a:rPr>
                      <m:t>[</m:t>
                    </m:r>
                    <m:r>
                      <m:rPr>
                        <m:sty m:val="p"/>
                      </m:rPr>
                      <a:rPr lang="en-US" altLang="ko-KR" sz="1400" b="0" i="0" smtClean="0">
                        <a:latin typeface="+mn-ea"/>
                      </a:rPr>
                      <m:t>min</m:t>
                    </m:r>
                    <m:r>
                      <a:rPr lang="en-US" altLang="ko-KR" sz="1400" b="0" i="1" smtClean="0">
                        <a:latin typeface="+mn-ea"/>
                      </a:rPr>
                      <m:t>⁡(</m:t>
                    </m:r>
                    <m:sSub>
                      <m:sSubPr>
                        <m:ctrlPr>
                          <a:rPr lang="en-US" altLang="ko-KR" sz="1400" b="0" i="1" smtClean="0">
                            <a:latin typeface="+mn-ea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+mn-ea"/>
                          </a:rPr>
                          <m:t>𝑟</m:t>
                        </m:r>
                      </m:e>
                      <m:sub>
                        <m:r>
                          <a:rPr lang="en-US" altLang="ko-KR" sz="1400" b="0" i="1" smtClean="0">
                            <a:latin typeface="+mn-ea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lang="en-US" altLang="ko-KR" sz="1400" b="0" i="1" smtClean="0">
                            <a:latin typeface="+mn-ea"/>
                          </a:rPr>
                        </m:ctrlPr>
                      </m:dPr>
                      <m:e>
                        <m:r>
                          <a:rPr lang="ko-KR" altLang="en-US" sz="1400" b="0" i="1" smtClean="0">
                            <a:latin typeface="+mn-ea"/>
                          </a:rPr>
                          <m:t>𝜃</m:t>
                        </m:r>
                      </m:e>
                    </m:d>
                    <m:sSub>
                      <m:sSubPr>
                        <m:ctrlPr>
                          <a:rPr lang="en-US" altLang="ko-KR" sz="1400" b="0" i="1" smtClean="0">
                            <a:latin typeface="+mn-ea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ko-KR" sz="1400" b="0" i="1" smtClean="0">
                                <a:latin typeface="+mn-ea"/>
                              </a:rPr>
                            </m:ctrlPr>
                          </m:accPr>
                          <m:e>
                            <m:r>
                              <a:rPr lang="en-US" altLang="ko-KR" sz="1400" b="0" i="1" smtClean="0">
                                <a:latin typeface="+mn-ea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en-US" altLang="ko-KR" sz="1400" b="0" i="1" smtClean="0">
                            <a:latin typeface="+mn-ea"/>
                          </a:rPr>
                          <m:t>𝑡</m:t>
                        </m:r>
                      </m:sub>
                    </m:sSub>
                    <m:r>
                      <a:rPr lang="en-US" altLang="ko-KR" sz="1400" b="0" i="1" smtClean="0">
                        <a:latin typeface="+mn-ea"/>
                      </a:rPr>
                      <m:t>, </m:t>
                    </m:r>
                    <m:r>
                      <a:rPr lang="en-US" altLang="ko-KR" sz="1400" b="0" i="1" smtClean="0">
                        <a:latin typeface="+mn-ea"/>
                      </a:rPr>
                      <m:t>𝑐𝑙𝑖𝑝</m:t>
                    </m:r>
                    <m:r>
                      <a:rPr lang="en-US" altLang="ko-KR" sz="1400" b="0" i="1" smtClean="0">
                        <a:latin typeface="+mn-ea"/>
                      </a:rPr>
                      <m:t>(</m:t>
                    </m:r>
                    <m:sSub>
                      <m:sSubPr>
                        <m:ctrlPr>
                          <a:rPr lang="en-US" altLang="ko-KR" sz="1400" b="0" i="1" smtClean="0">
                            <a:latin typeface="+mn-ea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+mn-ea"/>
                          </a:rPr>
                          <m:t>𝑟</m:t>
                        </m:r>
                      </m:e>
                      <m:sub>
                        <m:r>
                          <a:rPr lang="en-US" altLang="ko-KR" sz="1400" b="0" i="1" smtClean="0">
                            <a:latin typeface="+mn-ea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lang="en-US" altLang="ko-KR" sz="1400" b="0" i="1" smtClean="0">
                            <a:latin typeface="+mn-ea"/>
                          </a:rPr>
                        </m:ctrlPr>
                      </m:dPr>
                      <m:e>
                        <m:r>
                          <a:rPr lang="ko-KR" altLang="en-US" sz="1400" b="0" i="1" smtClean="0">
                            <a:latin typeface="+mn-ea"/>
                          </a:rPr>
                          <m:t>𝜃</m:t>
                        </m:r>
                      </m:e>
                    </m:d>
                    <m:r>
                      <a:rPr lang="en-US" altLang="ko-KR" sz="1400" b="0" i="1" smtClean="0">
                        <a:latin typeface="+mn-ea"/>
                      </a:rPr>
                      <m:t>, 1−</m:t>
                    </m:r>
                    <m:r>
                      <a:rPr lang="ko-KR" altLang="en-US" sz="1400" b="0" i="1" smtClean="0">
                        <a:latin typeface="+mn-ea"/>
                      </a:rPr>
                      <m:t>𝜀</m:t>
                    </m:r>
                    <m:r>
                      <a:rPr lang="en-US" altLang="ko-KR" sz="1400" b="0" i="1" smtClean="0">
                        <a:latin typeface="+mn-ea"/>
                      </a:rPr>
                      <m:t>, 1+</m:t>
                    </m:r>
                    <m:r>
                      <a:rPr lang="ko-KR" altLang="en-US" sz="1400" b="0" i="1" smtClean="0">
                        <a:latin typeface="+mn-ea"/>
                      </a:rPr>
                      <m:t>𝜀</m:t>
                    </m:r>
                    <m:r>
                      <a:rPr lang="en-US" altLang="ko-KR" sz="1400" b="0" i="1" smtClean="0">
                        <a:latin typeface="+mn-ea"/>
                      </a:rPr>
                      <m:t>)</m:t>
                    </m:r>
                    <m:sSub>
                      <m:sSubPr>
                        <m:ctrlPr>
                          <a:rPr lang="en-US" altLang="ko-KR" sz="1400" b="0" i="1" smtClean="0">
                            <a:latin typeface="+mn-ea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ko-KR" sz="1400" b="0" i="1" smtClean="0">
                                <a:latin typeface="+mn-ea"/>
                              </a:rPr>
                            </m:ctrlPr>
                          </m:accPr>
                          <m:e>
                            <m:r>
                              <a:rPr lang="en-US" altLang="ko-KR" sz="1400" b="0" i="1" smtClean="0">
                                <a:latin typeface="+mn-ea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en-US" altLang="ko-KR" sz="1400" b="0" i="1" smtClean="0">
                            <a:latin typeface="+mn-ea"/>
                          </a:rPr>
                          <m:t>𝑡</m:t>
                        </m:r>
                      </m:sub>
                    </m:sSub>
                    <m:r>
                      <a:rPr lang="en-US" altLang="ko-KR" sz="1400" b="0" i="1" smtClean="0">
                        <a:latin typeface="+mn-ea"/>
                      </a:rPr>
                      <m:t>)]</m:t>
                    </m:r>
                  </m:oMath>
                </a14:m>
                <a:endParaRPr lang="en-US" altLang="ko-KR" sz="1400" i="1" dirty="0">
                  <a:latin typeface="+mn-ea"/>
                </a:endParaRPr>
              </a:p>
              <a:p>
                <a:pPr marL="1657350" lvl="3" indent="-28575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smtClean="0">
                            <a:latin typeface="+mn-ea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+mn-ea"/>
                          </a:rPr>
                          <m:t>𝑟</m:t>
                        </m:r>
                      </m:e>
                      <m:sub>
                        <m:r>
                          <a:rPr lang="en-US" altLang="ko-KR" sz="1400" b="0" i="1" smtClean="0">
                            <a:latin typeface="+mn-ea"/>
                          </a:rPr>
                          <m:t>𝑡</m:t>
                        </m:r>
                      </m:sub>
                    </m:sSub>
                    <m:r>
                      <a:rPr lang="en-US" altLang="ko-KR" sz="1400" b="0" i="1" smtClean="0">
                        <a:latin typeface="+mn-ea"/>
                      </a:rPr>
                      <m:t>(</m:t>
                    </m:r>
                    <m:r>
                      <a:rPr lang="ko-KR" altLang="en-US" sz="1400" b="0" i="1" smtClean="0">
                        <a:latin typeface="+mn-ea"/>
                      </a:rPr>
                      <m:t>𝜃</m:t>
                    </m:r>
                    <m:r>
                      <a:rPr lang="en-US" altLang="ko-KR" sz="1400" b="0" i="1" smtClean="0">
                        <a:latin typeface="+mn-ea"/>
                      </a:rPr>
                      <m:t>)</m:t>
                    </m:r>
                  </m:oMath>
                </a14:m>
                <a:r>
                  <a:rPr lang="en-US" altLang="ko-KR" sz="1400" dirty="0">
                    <a:latin typeface="+mn-ea"/>
                  </a:rPr>
                  <a:t>: </a:t>
                </a:r>
                <a:r>
                  <a:rPr lang="ko-KR" altLang="en-US" sz="1400" dirty="0">
                    <a:latin typeface="+mn-ea"/>
                  </a:rPr>
                  <a:t>확률 비율 </a:t>
                </a:r>
                <a:r>
                  <a:rPr lang="en-US" altLang="ko-KR" sz="1400" dirty="0">
                    <a:latin typeface="+mn-ea"/>
                  </a:rPr>
                  <a:t>(Probability Ratio)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400" i="1" smtClean="0">
                            <a:latin typeface="+mn-ea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400" i="1" smtClean="0">
                                <a:latin typeface="+mn-ea"/>
                              </a:rPr>
                            </m:ctrlPr>
                          </m:sSubPr>
                          <m:e>
                            <m:r>
                              <a:rPr lang="ko-KR" altLang="en-US" sz="1400" i="1" smtClean="0">
                                <a:latin typeface="+mn-ea"/>
                              </a:rPr>
                              <m:t>𝜋</m:t>
                            </m:r>
                          </m:e>
                          <m:sub>
                            <m:r>
                              <a:rPr lang="ko-KR" altLang="en-US" sz="1400" i="1" smtClean="0">
                                <a:latin typeface="+mn-ea"/>
                              </a:rPr>
                              <m:t>𝜃</m:t>
                            </m:r>
                          </m:sub>
                        </m:sSub>
                        <m:r>
                          <a:rPr lang="en-US" altLang="ko-KR" sz="1400" b="0" i="1" smtClean="0">
                            <a:latin typeface="+mn-ea"/>
                          </a:rPr>
                          <m:t>(</m:t>
                        </m:r>
                        <m:sSub>
                          <m:sSubPr>
                            <m:ctrlPr>
                              <a:rPr lang="en-US" altLang="ko-KR" sz="1400" b="0" i="1" smtClean="0">
                                <a:latin typeface="+mn-ea"/>
                              </a:rPr>
                            </m:ctrlPr>
                          </m:sSubPr>
                          <m:e>
                            <m:r>
                              <a:rPr lang="en-US" altLang="ko-KR" sz="1400" b="0" i="1" smtClean="0">
                                <a:latin typeface="+mn-ea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atin typeface="+mn-ea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sz="1400" b="0" i="1" smtClean="0">
                            <a:latin typeface="+mn-ea"/>
                          </a:rPr>
                          <m:t>|</m:t>
                        </m:r>
                        <m:sSub>
                          <m:sSubPr>
                            <m:ctrlPr>
                              <a:rPr lang="en-US" altLang="ko-KR" sz="1400" b="0" i="1" smtClean="0">
                                <a:latin typeface="+mn-ea"/>
                              </a:rPr>
                            </m:ctrlPr>
                          </m:sSubPr>
                          <m:e>
                            <m:r>
                              <a:rPr lang="en-US" altLang="ko-KR" sz="1400" b="0" i="1" smtClean="0">
                                <a:latin typeface="+mn-ea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atin typeface="+mn-ea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sz="1400" b="0" i="1" smtClean="0">
                            <a:latin typeface="+mn-ea"/>
                          </a:rPr>
                          <m:t>)</m:t>
                        </m:r>
                      </m:num>
                      <m:den>
                        <m:sSub>
                          <m:sSubPr>
                            <m:ctrlPr>
                              <a:rPr lang="en-US" altLang="ko-KR" sz="1400" i="1">
                                <a:latin typeface="+mn-ea"/>
                              </a:rPr>
                            </m:ctrlPr>
                          </m:sSubPr>
                          <m:e>
                            <m:r>
                              <a:rPr lang="ko-KR" altLang="en-US" sz="1400" i="1">
                                <a:latin typeface="+mn-ea"/>
                              </a:rPr>
                              <m:t>𝜋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sz="1400" i="1" smtClean="0">
                                    <a:latin typeface="+mn-ea"/>
                                  </a:rPr>
                                </m:ctrlPr>
                              </m:sSubPr>
                              <m:e>
                                <m:r>
                                  <a:rPr lang="ko-KR" altLang="en-US" sz="1400" i="1" smtClean="0">
                                    <a:latin typeface="+mn-ea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altLang="ko-KR" sz="1400" b="0" i="1" smtClean="0">
                                    <a:latin typeface="+mn-ea"/>
                                  </a:rPr>
                                  <m:t>𝑜𝑙𝑑</m:t>
                                </m:r>
                              </m:sub>
                            </m:sSub>
                          </m:sub>
                        </m:sSub>
                        <m:r>
                          <a:rPr lang="en-US" altLang="ko-KR" sz="1400" i="1">
                            <a:latin typeface="+mn-ea"/>
                          </a:rPr>
                          <m:t>(</m:t>
                        </m:r>
                        <m:sSub>
                          <m:sSubPr>
                            <m:ctrlPr>
                              <a:rPr lang="en-US" altLang="ko-KR" sz="1400" i="1">
                                <a:latin typeface="+mn-ea"/>
                              </a:rPr>
                            </m:ctrlPr>
                          </m:sSubPr>
                          <m:e>
                            <m:r>
                              <a:rPr lang="en-US" altLang="ko-KR" sz="1400" i="1">
                                <a:latin typeface="+mn-ea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sz="1400" i="1">
                                <a:latin typeface="+mn-ea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sz="1400" i="1">
                            <a:latin typeface="+mn-ea"/>
                          </a:rPr>
                          <m:t>|</m:t>
                        </m:r>
                        <m:sSub>
                          <m:sSubPr>
                            <m:ctrlPr>
                              <a:rPr lang="en-US" altLang="ko-KR" sz="1400" i="1">
                                <a:latin typeface="+mn-ea"/>
                              </a:rPr>
                            </m:ctrlPr>
                          </m:sSubPr>
                          <m:e>
                            <m:r>
                              <a:rPr lang="en-US" altLang="ko-KR" sz="1400" i="1">
                                <a:latin typeface="+mn-ea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ko-KR" sz="1400" i="1">
                                <a:latin typeface="+mn-ea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sz="1400" i="1">
                            <a:latin typeface="+mn-ea"/>
                          </a:rPr>
                          <m:t>)</m:t>
                        </m:r>
                      </m:den>
                    </m:f>
                  </m:oMath>
                </a14:m>
                <a:endParaRPr lang="en-US" altLang="ko-KR" sz="1400" dirty="0">
                  <a:latin typeface="+mn-ea"/>
                </a:endParaRPr>
              </a:p>
              <a:p>
                <a:pPr marL="1657350" lvl="3" indent="-28575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ko-KR" altLang="en-US" sz="1400" i="1" smtClean="0">
                        <a:latin typeface="+mn-ea"/>
                      </a:rPr>
                      <m:t>𝜀</m:t>
                    </m:r>
                  </m:oMath>
                </a14:m>
                <a:r>
                  <a:rPr lang="en-US" altLang="ko-KR" sz="1400" dirty="0">
                    <a:latin typeface="+mn-ea"/>
                  </a:rPr>
                  <a:t>: Clipping Parameter (</a:t>
                </a:r>
                <a:r>
                  <a:rPr lang="ko-KR" altLang="en-US" sz="1400" dirty="0">
                    <a:latin typeface="+mn-ea"/>
                  </a:rPr>
                  <a:t>본 프로젝트의 핵심 실험 변수</a:t>
                </a:r>
                <a:r>
                  <a:rPr lang="en-US" altLang="ko-KR" sz="1400" dirty="0">
                    <a:latin typeface="+mn-ea"/>
                  </a:rPr>
                  <a:t>, </a:t>
                </a:r>
                <a:r>
                  <a:rPr lang="ko-KR" altLang="en-US" sz="1400" dirty="0">
                    <a:latin typeface="+mn-ea"/>
                  </a:rPr>
                  <a:t>기본값 </a:t>
                </a:r>
                <a:r>
                  <a:rPr lang="en-US" altLang="ko-KR" sz="1400" dirty="0">
                    <a:latin typeface="+mn-ea"/>
                  </a:rPr>
                  <a:t>0.2)</a:t>
                </a:r>
              </a:p>
              <a:p>
                <a:pPr marL="1657350" lvl="3" indent="-28575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smtClean="0">
                            <a:latin typeface="+mn-ea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ko-KR" sz="1400" i="1" smtClean="0">
                                <a:latin typeface="+mn-ea"/>
                              </a:rPr>
                            </m:ctrlPr>
                          </m:accPr>
                          <m:e>
                            <m:r>
                              <a:rPr lang="en-US" altLang="ko-KR" sz="1400" b="0" i="1" smtClean="0">
                                <a:latin typeface="+mn-ea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en-US" altLang="ko-KR" sz="1400" b="0" i="1" smtClean="0">
                            <a:latin typeface="+mn-ea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ko-KR" sz="1400" dirty="0">
                    <a:latin typeface="+mn-ea"/>
                  </a:rPr>
                  <a:t>: Generalized Advantage Estimation (GAE)</a:t>
                </a:r>
              </a:p>
              <a:p>
                <a:pPr lvl="1">
                  <a:lnSpc>
                    <a:spcPct val="130000"/>
                  </a:lnSpc>
                </a:pPr>
                <a:endParaRPr lang="en-US" altLang="ko-KR" sz="1400" dirty="0">
                  <a:latin typeface="+mn-ea"/>
                </a:endParaRPr>
              </a:p>
              <a:p>
                <a:pPr marL="285750" indent="-28575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400" b="1" dirty="0">
                    <a:latin typeface="+mn-ea"/>
                  </a:rPr>
                  <a:t>네트워크 구조 </a:t>
                </a:r>
                <a:r>
                  <a:rPr lang="en-US" altLang="ko-KR" sz="1400" b="1" dirty="0">
                    <a:latin typeface="+mn-ea"/>
                  </a:rPr>
                  <a:t>(Network Architecture)</a:t>
                </a:r>
              </a:p>
              <a:p>
                <a:pPr marL="742950" lvl="1" indent="-28575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400" dirty="0">
                    <a:latin typeface="+mn-ea"/>
                  </a:rPr>
                  <a:t>Input Layer: 8 Nodes (State Dimension)</a:t>
                </a:r>
              </a:p>
              <a:p>
                <a:pPr marL="742950" lvl="1" indent="-28575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400" dirty="0">
                    <a:latin typeface="+mn-ea"/>
                  </a:rPr>
                  <a:t>Hidden Layers: 2 Fully Connected Layers (256, 128 Nodes) + </a:t>
                </a:r>
                <a:r>
                  <a:rPr lang="en-US" altLang="ko-KR" sz="1400" dirty="0" err="1">
                    <a:latin typeface="+mn-ea"/>
                  </a:rPr>
                  <a:t>ReLU</a:t>
                </a:r>
                <a:r>
                  <a:rPr lang="en-US" altLang="ko-KR" sz="1400" dirty="0">
                    <a:latin typeface="+mn-ea"/>
                  </a:rPr>
                  <a:t> Activation.</a:t>
                </a:r>
              </a:p>
              <a:p>
                <a:pPr marL="742950" lvl="1" indent="-28575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400" dirty="0">
                    <a:latin typeface="+mn-ea"/>
                  </a:rPr>
                  <a:t>Output Heads (Shared Backbone)</a:t>
                </a:r>
              </a:p>
              <a:p>
                <a:pPr marL="1200150" lvl="2" indent="-28575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400" dirty="0">
                    <a:latin typeface="+mn-ea"/>
                  </a:rPr>
                  <a:t>Actor: </a:t>
                </a:r>
                <a:r>
                  <a:rPr lang="en-US" altLang="ko-KR" sz="1400" dirty="0" err="1">
                    <a:latin typeface="+mn-ea"/>
                  </a:rPr>
                  <a:t>Softmax</a:t>
                </a:r>
                <a:r>
                  <a:rPr lang="en-US" altLang="ko-KR" sz="1400" dirty="0">
                    <a:latin typeface="+mn-ea"/>
                  </a:rPr>
                  <a:t> (Action Probabilities, 4 Nodes)</a:t>
                </a:r>
              </a:p>
              <a:p>
                <a:pPr marL="1200150" lvl="2" indent="-28575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400" dirty="0">
                    <a:latin typeface="+mn-ea"/>
                  </a:rPr>
                  <a:t>Critic: Linear (State Value, 1 Node)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A695F1A-9307-8CAA-B106-45708B2896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618" y="1864584"/>
                <a:ext cx="8400764" cy="4842992"/>
              </a:xfrm>
              <a:prstGeom prst="rect">
                <a:avLst/>
              </a:prstGeom>
              <a:blipFill>
                <a:blip r:embed="rId3"/>
                <a:stretch>
                  <a:fillRect l="-14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357667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AF095-8A6C-0982-0034-17E6CDC9B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A58B9E13-1867-EDBD-6A53-C4543511190D}"/>
              </a:ext>
            </a:extLst>
          </p:cNvPr>
          <p:cNvSpPr/>
          <p:nvPr/>
        </p:nvSpPr>
        <p:spPr>
          <a:xfrm flipV="1">
            <a:off x="422559" y="1024993"/>
            <a:ext cx="8400765" cy="45719"/>
          </a:xfrm>
          <a:prstGeom prst="rect">
            <a:avLst/>
          </a:prstGeom>
          <a:solidFill>
            <a:srgbClr val="AB1E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C1C1C1"/>
              </a:solidFill>
              <a:latin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350F5F-3DFE-B141-11A7-ABC6E4D16F80}"/>
              </a:ext>
            </a:extLst>
          </p:cNvPr>
          <p:cNvSpPr txBox="1"/>
          <p:nvPr/>
        </p:nvSpPr>
        <p:spPr>
          <a:xfrm>
            <a:off x="422559" y="1206038"/>
            <a:ext cx="84007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PyTorch</a:t>
            </a:r>
            <a:r>
              <a:rPr lang="ko-KR" alt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와 </a:t>
            </a:r>
            <a:r>
              <a:rPr lang="en-US" altLang="ko-KR" sz="14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Gymnasium</a:t>
            </a:r>
            <a:r>
              <a:rPr lang="ko-KR" alt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을 기반으로 확장 가능한 모듈형 강화학습 프레임워크를 구축하였으며</a:t>
            </a:r>
            <a:r>
              <a:rPr lang="en-US" altLang="ko-KR" sz="14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, Streamlit</a:t>
            </a:r>
            <a:r>
              <a:rPr lang="ko-KR" alt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을 통해 학습 과정과 성과를 실시간으로 모니터링할 수 있는 대시보드를 구현하였습니다</a:t>
            </a:r>
            <a:r>
              <a:rPr lang="en-US" altLang="ko-KR" sz="14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.</a:t>
            </a:r>
            <a:endParaRPr lang="en-US" altLang="ko-KR" sz="14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F953A3-E679-3C05-45D1-EADB6E67E9A9}"/>
              </a:ext>
            </a:extLst>
          </p:cNvPr>
          <p:cNvSpPr txBox="1"/>
          <p:nvPr/>
        </p:nvSpPr>
        <p:spPr>
          <a:xfrm>
            <a:off x="422559" y="428002"/>
            <a:ext cx="53835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>
                <a:latin typeface="+mn-ea"/>
                <a:cs typeface="72 Black" panose="020B0A04030603020204" pitchFamily="34" charset="0"/>
              </a:rPr>
              <a:t>시스템 구현 및 실험 환경</a:t>
            </a:r>
            <a:endParaRPr lang="en-US" altLang="ko-KR" sz="2400" b="1" dirty="0">
              <a:latin typeface="+mn-ea"/>
              <a:cs typeface="72 Black" panose="020B0A04030603020204" pitchFamily="34" charset="0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0A3234B-AAB7-B966-BC43-5B4C9714F01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5083" y="169895"/>
            <a:ext cx="625398" cy="22289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B95440F-85CB-0764-5D0D-1908EA10CE0C}"/>
              </a:ext>
            </a:extLst>
          </p:cNvPr>
          <p:cNvSpPr txBox="1"/>
          <p:nvPr/>
        </p:nvSpPr>
        <p:spPr>
          <a:xfrm>
            <a:off x="7921287" y="6411106"/>
            <a:ext cx="9591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latin typeface="+mn-ea"/>
                <a:cs typeface="72 Black" panose="020B0A04030603020204" pitchFamily="34" charset="0"/>
              </a:rPr>
              <a:t>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7CC730-0335-9524-B04F-1B54C5CEA29D}"/>
              </a:ext>
            </a:extLst>
          </p:cNvPr>
          <p:cNvSpPr txBox="1"/>
          <p:nvPr/>
        </p:nvSpPr>
        <p:spPr>
          <a:xfrm>
            <a:off x="371618" y="1864584"/>
            <a:ext cx="8400764" cy="3428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1400" b="1" dirty="0">
                <a:latin typeface="+mn-ea"/>
              </a:rPr>
              <a:t>개발 환경 </a:t>
            </a:r>
            <a:r>
              <a:rPr lang="en-US" altLang="ko-KR" sz="1400" b="1" dirty="0">
                <a:latin typeface="+mn-ea"/>
              </a:rPr>
              <a:t>(Stack): </a:t>
            </a:r>
            <a:r>
              <a:rPr lang="en-US" altLang="ko-KR" sz="1400" dirty="0">
                <a:latin typeface="+mn-ea"/>
              </a:rPr>
              <a:t>Python 3.9, </a:t>
            </a:r>
            <a:r>
              <a:rPr lang="en-US" altLang="ko-KR" sz="1400" dirty="0" err="1">
                <a:latin typeface="+mn-ea"/>
              </a:rPr>
              <a:t>PyTorch</a:t>
            </a:r>
            <a:r>
              <a:rPr lang="en-US" altLang="ko-KR" sz="1400" dirty="0">
                <a:latin typeface="+mn-ea"/>
              </a:rPr>
              <a:t>, Gymnasium (Box2D), </a:t>
            </a:r>
            <a:r>
              <a:rPr lang="en-US" altLang="ko-KR" sz="1400" dirty="0" err="1">
                <a:latin typeface="+mn-ea"/>
              </a:rPr>
              <a:t>Streamlit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>
              <a:lnSpc>
                <a:spcPct val="130000"/>
              </a:lnSpc>
            </a:pPr>
            <a:endParaRPr lang="en-US" altLang="ko-KR" sz="1400" dirty="0">
              <a:latin typeface="+mn-ea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1400" b="1" dirty="0">
                <a:latin typeface="+mn-ea"/>
              </a:rPr>
              <a:t>프로젝트 구조 </a:t>
            </a:r>
            <a:r>
              <a:rPr lang="en-US" altLang="ko-KR" sz="1400" b="1" dirty="0">
                <a:latin typeface="+mn-ea"/>
              </a:rPr>
              <a:t>(Modular Design)</a:t>
            </a: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ko-KR" sz="1400" i="1" dirty="0">
                <a:latin typeface="+mn-ea"/>
              </a:rPr>
              <a:t>ppo_agent.py</a:t>
            </a:r>
            <a:r>
              <a:rPr lang="en-US" altLang="ko-KR" sz="1400" dirty="0">
                <a:latin typeface="+mn-ea"/>
              </a:rPr>
              <a:t>: PPO </a:t>
            </a:r>
            <a:r>
              <a:rPr lang="ko-KR" altLang="en-US" sz="1400" dirty="0">
                <a:latin typeface="+mn-ea"/>
              </a:rPr>
              <a:t>클래스 및 신경망 정의 </a:t>
            </a:r>
            <a:r>
              <a:rPr lang="en-US" altLang="ko-KR" sz="1400" dirty="0">
                <a:latin typeface="+mn-ea"/>
              </a:rPr>
              <a:t>(Model).</a:t>
            </a: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ko-KR" sz="1400" i="1" dirty="0">
                <a:latin typeface="+mn-ea"/>
              </a:rPr>
              <a:t>trainer.py</a:t>
            </a:r>
            <a:r>
              <a:rPr lang="en-US" altLang="ko-KR" sz="1400" dirty="0">
                <a:latin typeface="+mn-ea"/>
              </a:rPr>
              <a:t>: </a:t>
            </a:r>
            <a:r>
              <a:rPr lang="ko-KR" altLang="en-US" sz="1400" dirty="0">
                <a:latin typeface="+mn-ea"/>
              </a:rPr>
              <a:t>학습 루프 및 </a:t>
            </a:r>
            <a:r>
              <a:rPr lang="ko-KR" altLang="en-US" sz="1400" dirty="0" err="1">
                <a:latin typeface="+mn-ea"/>
              </a:rPr>
              <a:t>제너레이터</a:t>
            </a:r>
            <a:r>
              <a:rPr lang="ko-KR" altLang="en-US" sz="1400" dirty="0">
                <a:latin typeface="+mn-ea"/>
              </a:rPr>
              <a:t> 패턴 구현 </a:t>
            </a:r>
            <a:r>
              <a:rPr lang="en-US" altLang="ko-KR" sz="1400" dirty="0">
                <a:latin typeface="+mn-ea"/>
              </a:rPr>
              <a:t>(Logic).</a:t>
            </a: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ko-KR" sz="1400" i="1" dirty="0">
                <a:latin typeface="+mn-ea"/>
              </a:rPr>
              <a:t>config.py</a:t>
            </a:r>
            <a:r>
              <a:rPr lang="en-US" altLang="ko-KR" sz="1400" dirty="0">
                <a:latin typeface="+mn-ea"/>
              </a:rPr>
              <a:t>: </a:t>
            </a:r>
            <a:r>
              <a:rPr lang="ko-KR" altLang="en-US" sz="1400" dirty="0">
                <a:latin typeface="+mn-ea"/>
              </a:rPr>
              <a:t>실험 파라미터 및 </a:t>
            </a:r>
            <a:r>
              <a:rPr lang="ko-KR" altLang="en-US" sz="1400" dirty="0" err="1">
                <a:latin typeface="+mn-ea"/>
              </a:rPr>
              <a:t>프리셋</a:t>
            </a:r>
            <a:r>
              <a:rPr lang="ko-KR" altLang="en-US" sz="1400" dirty="0">
                <a:latin typeface="+mn-ea"/>
              </a:rPr>
              <a:t> 관리 </a:t>
            </a:r>
            <a:r>
              <a:rPr lang="en-US" altLang="ko-KR" sz="1400" dirty="0">
                <a:latin typeface="+mn-ea"/>
              </a:rPr>
              <a:t>(Config).</a:t>
            </a: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ko-KR" sz="1400" i="1" dirty="0">
                <a:latin typeface="+mn-ea"/>
              </a:rPr>
              <a:t>app.py</a:t>
            </a:r>
            <a:r>
              <a:rPr lang="en-US" altLang="ko-KR" sz="1400" dirty="0">
                <a:latin typeface="+mn-ea"/>
              </a:rPr>
              <a:t>: </a:t>
            </a:r>
            <a:r>
              <a:rPr lang="ko-KR" altLang="en-US" sz="1400" dirty="0">
                <a:latin typeface="+mn-ea"/>
              </a:rPr>
              <a:t>웹 대시보드 </a:t>
            </a:r>
            <a:r>
              <a:rPr lang="en-US" altLang="ko-KR" sz="1400" dirty="0">
                <a:latin typeface="+mn-ea"/>
              </a:rPr>
              <a:t>UI </a:t>
            </a:r>
            <a:r>
              <a:rPr lang="ko-KR" altLang="en-US" sz="1400" dirty="0">
                <a:latin typeface="+mn-ea"/>
              </a:rPr>
              <a:t>및 결과 시각화 </a:t>
            </a:r>
            <a:r>
              <a:rPr lang="en-US" altLang="ko-KR" sz="1400" dirty="0">
                <a:latin typeface="+mn-ea"/>
              </a:rPr>
              <a:t>(View).</a:t>
            </a: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US" altLang="ko-KR" sz="1400" dirty="0">
              <a:latin typeface="+mn-ea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1400" b="1" dirty="0">
                <a:latin typeface="+mn-ea"/>
              </a:rPr>
              <a:t>실험 프로세스</a:t>
            </a:r>
            <a:endParaRPr lang="en-US" altLang="ko-KR" sz="1400" b="1" dirty="0">
              <a:latin typeface="+mn-ea"/>
            </a:endParaRPr>
          </a:p>
          <a:p>
            <a:pPr marL="800100" lvl="1" indent="-342900">
              <a:lnSpc>
                <a:spcPct val="130000"/>
              </a:lnSpc>
              <a:buAutoNum type="arabicPeriod"/>
            </a:pPr>
            <a:r>
              <a:rPr lang="ko-KR" altLang="en-US" sz="1400" dirty="0">
                <a:latin typeface="+mn-ea"/>
              </a:rPr>
              <a:t>사용자가 </a:t>
            </a:r>
            <a:r>
              <a:rPr lang="en-US" altLang="ko-KR" sz="1400" dirty="0">
                <a:latin typeface="+mn-ea"/>
              </a:rPr>
              <a:t>Web UI</a:t>
            </a:r>
            <a:r>
              <a:rPr lang="ko-KR" altLang="en-US" sz="1400" dirty="0">
                <a:latin typeface="+mn-ea"/>
              </a:rPr>
              <a:t>에서 실험 모드</a:t>
            </a:r>
            <a:r>
              <a:rPr lang="en-US" altLang="ko-KR" sz="1400" dirty="0">
                <a:latin typeface="+mn-ea"/>
              </a:rPr>
              <a:t>(Baseline/Variation) </a:t>
            </a:r>
            <a:r>
              <a:rPr lang="ko-KR" altLang="en-US" sz="1400" dirty="0">
                <a:latin typeface="+mn-ea"/>
              </a:rPr>
              <a:t>선택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800100" lvl="1" indent="-342900">
              <a:lnSpc>
                <a:spcPct val="130000"/>
              </a:lnSpc>
              <a:buAutoNum type="arabicPeriod"/>
            </a:pPr>
            <a:r>
              <a:rPr lang="en-US" altLang="ko-KR" sz="1400" i="1" dirty="0">
                <a:latin typeface="+mn-ea"/>
              </a:rPr>
              <a:t>Trainer</a:t>
            </a:r>
            <a:r>
              <a:rPr lang="ko-KR" altLang="en-US" sz="1400" dirty="0">
                <a:latin typeface="+mn-ea"/>
              </a:rPr>
              <a:t>가 학습을 수행하며 실시간 점수 데이터를 </a:t>
            </a:r>
            <a:r>
              <a:rPr lang="en-US" altLang="ko-KR" sz="1400" i="1" dirty="0">
                <a:latin typeface="+mn-ea"/>
              </a:rPr>
              <a:t>Yield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800100" lvl="1" indent="-342900">
              <a:lnSpc>
                <a:spcPct val="130000"/>
              </a:lnSpc>
              <a:buAutoNum type="arabicPeriod"/>
            </a:pPr>
            <a:r>
              <a:rPr lang="ko-KR" altLang="en-US" sz="1400" dirty="0">
                <a:latin typeface="+mn-ea"/>
              </a:rPr>
              <a:t>학습 종료 후 결과 데이터</a:t>
            </a:r>
            <a:r>
              <a:rPr lang="en-US" altLang="ko-KR" sz="1400" dirty="0">
                <a:latin typeface="+mn-ea"/>
              </a:rPr>
              <a:t>(CSV, PNG) </a:t>
            </a:r>
            <a:r>
              <a:rPr lang="ko-KR" altLang="en-US" sz="1400" dirty="0">
                <a:latin typeface="+mn-ea"/>
              </a:rPr>
              <a:t>자동 저장 및 비교 그래프 생성</a:t>
            </a:r>
            <a:r>
              <a:rPr lang="en-US" altLang="ko-KR" sz="1400" dirty="0"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557276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EEA80-0DBC-4A81-3736-3EE806FF3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8AA47F48-F8B1-A781-5877-58C46B4F1D48}"/>
              </a:ext>
            </a:extLst>
          </p:cNvPr>
          <p:cNvSpPr/>
          <p:nvPr/>
        </p:nvSpPr>
        <p:spPr>
          <a:xfrm flipV="1">
            <a:off x="422559" y="1024993"/>
            <a:ext cx="8400765" cy="45719"/>
          </a:xfrm>
          <a:prstGeom prst="rect">
            <a:avLst/>
          </a:prstGeom>
          <a:solidFill>
            <a:srgbClr val="AB1E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C1C1C1"/>
              </a:solidFill>
              <a:latin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7D2D77D-EB87-F59A-1614-4D5329AEDF25}"/>
              </a:ext>
            </a:extLst>
          </p:cNvPr>
          <p:cNvSpPr txBox="1"/>
          <p:nvPr/>
        </p:nvSpPr>
        <p:spPr>
          <a:xfrm>
            <a:off x="422559" y="1206038"/>
            <a:ext cx="84007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PPO</a:t>
            </a:r>
            <a:r>
              <a:rPr lang="ko-KR" alt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의 핵심 기여점인 </a:t>
            </a:r>
            <a:r>
              <a:rPr lang="en-US" altLang="ko-KR" sz="14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'</a:t>
            </a:r>
            <a:r>
              <a:rPr lang="ko-KR" alt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안정성</a:t>
            </a:r>
            <a:r>
              <a:rPr lang="en-US" altLang="ko-KR" sz="14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'</a:t>
            </a:r>
            <a:r>
              <a:rPr lang="ko-KR" alt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을 입증하기 위해</a:t>
            </a:r>
            <a:r>
              <a:rPr lang="en-US" altLang="ko-KR" sz="14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, </a:t>
            </a:r>
            <a:r>
              <a:rPr lang="ko-KR" alt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논문 권장 설정</a:t>
            </a:r>
            <a:r>
              <a:rPr lang="en-US" altLang="ko-KR" sz="14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(Baseline)</a:t>
            </a:r>
            <a:r>
              <a:rPr lang="ko-KR" alt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과 의도적으로 안정성을 깨뜨린 대조군</a:t>
            </a:r>
            <a:r>
              <a:rPr lang="en-US" altLang="ko-KR" sz="14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(High Clipping, Variation) </a:t>
            </a:r>
            <a:r>
              <a:rPr lang="ko-KR" alt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간의 비교 실험을 설계하였습니다</a:t>
            </a:r>
            <a:r>
              <a:rPr lang="en-US" altLang="ko-KR" sz="14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.</a:t>
            </a:r>
            <a:endParaRPr lang="en-US" altLang="ko-KR" sz="14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EAF75B-3820-F108-43F7-74BF32F6038A}"/>
              </a:ext>
            </a:extLst>
          </p:cNvPr>
          <p:cNvSpPr txBox="1"/>
          <p:nvPr/>
        </p:nvSpPr>
        <p:spPr>
          <a:xfrm>
            <a:off x="422559" y="428002"/>
            <a:ext cx="53835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+mn-ea"/>
                <a:cs typeface="72 Black" panose="020B0A04030603020204" pitchFamily="34" charset="0"/>
              </a:rPr>
              <a:t>전체 실험 설계</a:t>
            </a:r>
            <a:endParaRPr lang="en-US" altLang="ko-KR" sz="2400" b="1" dirty="0">
              <a:latin typeface="+mn-ea"/>
              <a:cs typeface="72 Black" panose="020B0A04030603020204" pitchFamily="34" charset="0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A1772EE-CAAE-ADA8-3A3C-0355F571326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5083" y="169895"/>
            <a:ext cx="625398" cy="22289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94320EC-BE06-8B6B-78A5-B670E3B7131F}"/>
              </a:ext>
            </a:extLst>
          </p:cNvPr>
          <p:cNvSpPr txBox="1"/>
          <p:nvPr/>
        </p:nvSpPr>
        <p:spPr>
          <a:xfrm>
            <a:off x="7921287" y="6411106"/>
            <a:ext cx="9591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latin typeface="+mn-ea"/>
                <a:cs typeface="72 Black" panose="020B0A04030603020204" pitchFamily="34" charset="0"/>
              </a:rPr>
              <a:t>7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F1F3BE2-5036-F527-02FA-3A7EF213FABB}"/>
              </a:ext>
            </a:extLst>
          </p:cNvPr>
          <p:cNvSpPr txBox="1"/>
          <p:nvPr/>
        </p:nvSpPr>
        <p:spPr>
          <a:xfrm>
            <a:off x="371618" y="1864584"/>
            <a:ext cx="8400764" cy="3428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1400" b="1" dirty="0">
                <a:latin typeface="+mn-ea"/>
              </a:rPr>
              <a:t>개발 환경 </a:t>
            </a:r>
            <a:r>
              <a:rPr lang="en-US" altLang="ko-KR" sz="1400" b="1" dirty="0">
                <a:latin typeface="+mn-ea"/>
              </a:rPr>
              <a:t>(Stack): </a:t>
            </a:r>
            <a:r>
              <a:rPr lang="en-US" altLang="ko-KR" sz="1400" dirty="0">
                <a:latin typeface="+mn-ea"/>
              </a:rPr>
              <a:t>Python 3.9, </a:t>
            </a:r>
            <a:r>
              <a:rPr lang="en-US" altLang="ko-KR" sz="1400" dirty="0" err="1">
                <a:latin typeface="+mn-ea"/>
              </a:rPr>
              <a:t>PyTorch</a:t>
            </a:r>
            <a:r>
              <a:rPr lang="en-US" altLang="ko-KR" sz="1400" dirty="0">
                <a:latin typeface="+mn-ea"/>
              </a:rPr>
              <a:t>, Gymnasium (Box2D), </a:t>
            </a:r>
            <a:r>
              <a:rPr lang="en-US" altLang="ko-KR" sz="1400" dirty="0" err="1">
                <a:latin typeface="+mn-ea"/>
              </a:rPr>
              <a:t>Streamlit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>
              <a:lnSpc>
                <a:spcPct val="130000"/>
              </a:lnSpc>
            </a:pPr>
            <a:endParaRPr lang="en-US" altLang="ko-KR" sz="1400" dirty="0">
              <a:latin typeface="+mn-ea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1400" b="1" dirty="0">
                <a:latin typeface="+mn-ea"/>
              </a:rPr>
              <a:t>프로젝트 구조 </a:t>
            </a:r>
            <a:r>
              <a:rPr lang="en-US" altLang="ko-KR" sz="1400" b="1" dirty="0">
                <a:latin typeface="+mn-ea"/>
              </a:rPr>
              <a:t>(Modular Design)</a:t>
            </a: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ko-KR" sz="1400" i="1" dirty="0">
                <a:latin typeface="+mn-ea"/>
              </a:rPr>
              <a:t>ppo_agent.py</a:t>
            </a:r>
            <a:r>
              <a:rPr lang="en-US" altLang="ko-KR" sz="1400" dirty="0">
                <a:latin typeface="+mn-ea"/>
              </a:rPr>
              <a:t>: PPO </a:t>
            </a:r>
            <a:r>
              <a:rPr lang="ko-KR" altLang="en-US" sz="1400" dirty="0">
                <a:latin typeface="+mn-ea"/>
              </a:rPr>
              <a:t>클래스 및 신경망 정의 </a:t>
            </a:r>
            <a:r>
              <a:rPr lang="en-US" altLang="ko-KR" sz="1400" dirty="0">
                <a:latin typeface="+mn-ea"/>
              </a:rPr>
              <a:t>(Model).</a:t>
            </a: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ko-KR" sz="1400" i="1" dirty="0">
                <a:latin typeface="+mn-ea"/>
              </a:rPr>
              <a:t>trainer.py</a:t>
            </a:r>
            <a:r>
              <a:rPr lang="en-US" altLang="ko-KR" sz="1400" dirty="0">
                <a:latin typeface="+mn-ea"/>
              </a:rPr>
              <a:t>: </a:t>
            </a:r>
            <a:r>
              <a:rPr lang="ko-KR" altLang="en-US" sz="1400" dirty="0">
                <a:latin typeface="+mn-ea"/>
              </a:rPr>
              <a:t>학습 루프 및 </a:t>
            </a:r>
            <a:r>
              <a:rPr lang="ko-KR" altLang="en-US" sz="1400" dirty="0" err="1">
                <a:latin typeface="+mn-ea"/>
              </a:rPr>
              <a:t>제너레이터</a:t>
            </a:r>
            <a:r>
              <a:rPr lang="ko-KR" altLang="en-US" sz="1400" dirty="0">
                <a:latin typeface="+mn-ea"/>
              </a:rPr>
              <a:t> 패턴 구현 </a:t>
            </a:r>
            <a:r>
              <a:rPr lang="en-US" altLang="ko-KR" sz="1400" dirty="0">
                <a:latin typeface="+mn-ea"/>
              </a:rPr>
              <a:t>(Logic).</a:t>
            </a: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ko-KR" sz="1400" i="1" dirty="0">
                <a:latin typeface="+mn-ea"/>
              </a:rPr>
              <a:t>config.py</a:t>
            </a:r>
            <a:r>
              <a:rPr lang="en-US" altLang="ko-KR" sz="1400" dirty="0">
                <a:latin typeface="+mn-ea"/>
              </a:rPr>
              <a:t>: </a:t>
            </a:r>
            <a:r>
              <a:rPr lang="ko-KR" altLang="en-US" sz="1400" dirty="0">
                <a:latin typeface="+mn-ea"/>
              </a:rPr>
              <a:t>실험 파라미터 및 </a:t>
            </a:r>
            <a:r>
              <a:rPr lang="ko-KR" altLang="en-US" sz="1400" dirty="0" err="1">
                <a:latin typeface="+mn-ea"/>
              </a:rPr>
              <a:t>프리셋</a:t>
            </a:r>
            <a:r>
              <a:rPr lang="ko-KR" altLang="en-US" sz="1400" dirty="0">
                <a:latin typeface="+mn-ea"/>
              </a:rPr>
              <a:t> 관리 </a:t>
            </a:r>
            <a:r>
              <a:rPr lang="en-US" altLang="ko-KR" sz="1400" dirty="0">
                <a:latin typeface="+mn-ea"/>
              </a:rPr>
              <a:t>(Config).</a:t>
            </a: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ko-KR" sz="1400" i="1" dirty="0">
                <a:latin typeface="+mn-ea"/>
              </a:rPr>
              <a:t>app.py</a:t>
            </a:r>
            <a:r>
              <a:rPr lang="en-US" altLang="ko-KR" sz="1400" dirty="0">
                <a:latin typeface="+mn-ea"/>
              </a:rPr>
              <a:t>: </a:t>
            </a:r>
            <a:r>
              <a:rPr lang="ko-KR" altLang="en-US" sz="1400" dirty="0">
                <a:latin typeface="+mn-ea"/>
              </a:rPr>
              <a:t>웹 대시보드 </a:t>
            </a:r>
            <a:r>
              <a:rPr lang="en-US" altLang="ko-KR" sz="1400" dirty="0">
                <a:latin typeface="+mn-ea"/>
              </a:rPr>
              <a:t>UI </a:t>
            </a:r>
            <a:r>
              <a:rPr lang="ko-KR" altLang="en-US" sz="1400" dirty="0">
                <a:latin typeface="+mn-ea"/>
              </a:rPr>
              <a:t>및 결과 시각화 </a:t>
            </a:r>
            <a:r>
              <a:rPr lang="en-US" altLang="ko-KR" sz="1400" dirty="0">
                <a:latin typeface="+mn-ea"/>
              </a:rPr>
              <a:t>(View).</a:t>
            </a: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US" altLang="ko-KR" sz="1400" dirty="0">
              <a:latin typeface="+mn-ea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1400" b="1" dirty="0">
                <a:latin typeface="+mn-ea"/>
              </a:rPr>
              <a:t>실험 프로세스</a:t>
            </a:r>
            <a:endParaRPr lang="en-US" altLang="ko-KR" sz="1400" b="1" dirty="0">
              <a:latin typeface="+mn-ea"/>
            </a:endParaRPr>
          </a:p>
          <a:p>
            <a:pPr marL="800100" lvl="1" indent="-342900">
              <a:lnSpc>
                <a:spcPct val="130000"/>
              </a:lnSpc>
              <a:buAutoNum type="arabicPeriod"/>
            </a:pPr>
            <a:r>
              <a:rPr lang="ko-KR" altLang="en-US" sz="1400" dirty="0">
                <a:latin typeface="+mn-ea"/>
              </a:rPr>
              <a:t>사용자가 </a:t>
            </a:r>
            <a:r>
              <a:rPr lang="en-US" altLang="ko-KR" sz="1400" dirty="0">
                <a:latin typeface="+mn-ea"/>
              </a:rPr>
              <a:t>Web UI</a:t>
            </a:r>
            <a:r>
              <a:rPr lang="ko-KR" altLang="en-US" sz="1400" dirty="0">
                <a:latin typeface="+mn-ea"/>
              </a:rPr>
              <a:t>에서 실험 모드</a:t>
            </a:r>
            <a:r>
              <a:rPr lang="en-US" altLang="ko-KR" sz="1400" dirty="0">
                <a:latin typeface="+mn-ea"/>
              </a:rPr>
              <a:t>(Baseline/Variation) </a:t>
            </a:r>
            <a:r>
              <a:rPr lang="ko-KR" altLang="en-US" sz="1400" dirty="0">
                <a:latin typeface="+mn-ea"/>
              </a:rPr>
              <a:t>선택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800100" lvl="1" indent="-342900">
              <a:lnSpc>
                <a:spcPct val="130000"/>
              </a:lnSpc>
              <a:buAutoNum type="arabicPeriod"/>
            </a:pPr>
            <a:r>
              <a:rPr lang="en-US" altLang="ko-KR" sz="1400" i="1" dirty="0">
                <a:latin typeface="+mn-ea"/>
              </a:rPr>
              <a:t>Trainer</a:t>
            </a:r>
            <a:r>
              <a:rPr lang="ko-KR" altLang="en-US" sz="1400" dirty="0">
                <a:latin typeface="+mn-ea"/>
              </a:rPr>
              <a:t>가 학습을 수행하며 실시간 점수 데이터를 </a:t>
            </a:r>
            <a:r>
              <a:rPr lang="en-US" altLang="ko-KR" sz="1400" i="1" dirty="0">
                <a:latin typeface="+mn-ea"/>
              </a:rPr>
              <a:t>Yield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800100" lvl="1" indent="-342900">
              <a:lnSpc>
                <a:spcPct val="130000"/>
              </a:lnSpc>
              <a:buAutoNum type="arabicPeriod"/>
            </a:pPr>
            <a:r>
              <a:rPr lang="ko-KR" altLang="en-US" sz="1400" dirty="0">
                <a:latin typeface="+mn-ea"/>
              </a:rPr>
              <a:t>학습 종료 후 결과 데이터</a:t>
            </a:r>
            <a:r>
              <a:rPr lang="en-US" altLang="ko-KR" sz="1400" dirty="0">
                <a:latin typeface="+mn-ea"/>
              </a:rPr>
              <a:t>(CSV, PNG) </a:t>
            </a:r>
            <a:r>
              <a:rPr lang="ko-KR" altLang="en-US" sz="1400" dirty="0">
                <a:latin typeface="+mn-ea"/>
              </a:rPr>
              <a:t>자동 저장 및 비교 그래프 생성</a:t>
            </a:r>
            <a:r>
              <a:rPr lang="en-US" altLang="ko-KR" sz="1400" dirty="0"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636165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10E17D-630C-CED6-BEA2-7075294E5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8D2E857C-37FC-68F9-32D8-FC6F830423C2}"/>
              </a:ext>
            </a:extLst>
          </p:cNvPr>
          <p:cNvSpPr/>
          <p:nvPr/>
        </p:nvSpPr>
        <p:spPr>
          <a:xfrm flipV="1">
            <a:off x="422559" y="1024993"/>
            <a:ext cx="8400765" cy="45719"/>
          </a:xfrm>
          <a:prstGeom prst="rect">
            <a:avLst/>
          </a:prstGeom>
          <a:solidFill>
            <a:srgbClr val="AB1E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C1C1C1"/>
              </a:solidFill>
              <a:latin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465911-C8DD-CB99-9465-ED354F0145D4}"/>
              </a:ext>
            </a:extLst>
          </p:cNvPr>
          <p:cNvSpPr txBox="1"/>
          <p:nvPr/>
        </p:nvSpPr>
        <p:spPr>
          <a:xfrm>
            <a:off x="422559" y="1206038"/>
            <a:ext cx="84007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논문에서 제시한 권장 파라미터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(</a:t>
            </a:r>
            <a:r>
              <a:rPr lang="el-GR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ε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=0.2)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를 적용한 결과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에피소드 진행에 따라 보상이 안정적으로 </a:t>
            </a:r>
            <a:r>
              <a:rPr lang="ko-KR" alt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우상향하며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목표 점수에 도달함을 확인하였습니다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1A955E-83DD-9958-CA7F-10CE5AA69E51}"/>
              </a:ext>
            </a:extLst>
          </p:cNvPr>
          <p:cNvSpPr txBox="1"/>
          <p:nvPr/>
        </p:nvSpPr>
        <p:spPr>
          <a:xfrm>
            <a:off x="422559" y="428002"/>
            <a:ext cx="53835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+mn-ea"/>
                <a:cs typeface="72 Black" panose="020B0A04030603020204" pitchFamily="34" charset="0"/>
              </a:rPr>
              <a:t>[</a:t>
            </a:r>
            <a:r>
              <a:rPr lang="ko-KR" altLang="en-US" sz="2400" b="1" dirty="0">
                <a:latin typeface="+mn-ea"/>
                <a:cs typeface="72 Black" panose="020B0A04030603020204" pitchFamily="34" charset="0"/>
              </a:rPr>
              <a:t>실험 </a:t>
            </a:r>
            <a:r>
              <a:rPr lang="en-US" altLang="ko-KR" sz="2400" b="1" dirty="0">
                <a:latin typeface="+mn-ea"/>
                <a:cs typeface="72 Black" panose="020B0A04030603020204" pitchFamily="34" charset="0"/>
              </a:rPr>
              <a:t>1] Baseline </a:t>
            </a:r>
            <a:r>
              <a:rPr lang="ko-KR" altLang="en-US" sz="2400" b="1" dirty="0">
                <a:latin typeface="+mn-ea"/>
                <a:cs typeface="72 Black" panose="020B0A04030603020204" pitchFamily="34" charset="0"/>
              </a:rPr>
              <a:t>결과</a:t>
            </a:r>
            <a:endParaRPr lang="en-US" altLang="ko-KR" sz="2400" b="1" dirty="0">
              <a:latin typeface="+mn-ea"/>
              <a:cs typeface="72 Black" panose="020B0A04030603020204" pitchFamily="34" charset="0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D5E6B88-6858-C6A8-2C1D-281079DF875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5083" y="169895"/>
            <a:ext cx="625398" cy="22289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E1E4723-40D3-EEF9-B6E1-A63221909E33}"/>
              </a:ext>
            </a:extLst>
          </p:cNvPr>
          <p:cNvSpPr txBox="1"/>
          <p:nvPr/>
        </p:nvSpPr>
        <p:spPr>
          <a:xfrm>
            <a:off x="7921287" y="6411106"/>
            <a:ext cx="9591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latin typeface="+mn-ea"/>
                <a:cs typeface="72 Black" panose="020B0A04030603020204" pitchFamily="34" charset="0"/>
              </a:rPr>
              <a:t>8</a:t>
            </a:r>
          </a:p>
        </p:txBody>
      </p:sp>
      <p:pic>
        <p:nvPicPr>
          <p:cNvPr id="5" name="그림 4" descr="텍스트, 라인, 그래프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C297FCA-8595-4777-3FCA-78B1357D4E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0481" y="3171106"/>
            <a:ext cx="5400000" cy="3240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73F606C-295C-CE87-42E3-84CABBF31EC7}"/>
              </a:ext>
            </a:extLst>
          </p:cNvPr>
          <p:cNvSpPr txBox="1"/>
          <p:nvPr/>
        </p:nvSpPr>
        <p:spPr>
          <a:xfrm>
            <a:off x="371618" y="1864584"/>
            <a:ext cx="8400764" cy="14683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1400" b="1" dirty="0">
                <a:latin typeface="+mn-ea"/>
              </a:rPr>
              <a:t>주요 지표 </a:t>
            </a:r>
            <a:r>
              <a:rPr lang="en-US" altLang="ko-KR" sz="1400" b="1" dirty="0">
                <a:latin typeface="+mn-ea"/>
              </a:rPr>
              <a:t>(Key Metrics)</a:t>
            </a: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초기 점수</a:t>
            </a:r>
            <a:r>
              <a:rPr lang="en-US" altLang="ko-KR" sz="1400" dirty="0">
                <a:latin typeface="+mn-ea"/>
              </a:rPr>
              <a:t>: -177.5</a:t>
            </a:r>
            <a:r>
              <a:rPr lang="ko-KR" altLang="en-US" sz="1400" dirty="0">
                <a:latin typeface="+mn-ea"/>
              </a:rPr>
              <a:t>점 </a:t>
            </a:r>
            <a:r>
              <a:rPr lang="en-US" altLang="ko-KR" sz="1400" dirty="0">
                <a:latin typeface="+mn-ea"/>
              </a:rPr>
              <a:t>(</a:t>
            </a:r>
            <a:r>
              <a:rPr lang="ko-KR" altLang="en-US" sz="1400" dirty="0">
                <a:latin typeface="+mn-ea"/>
              </a:rPr>
              <a:t>학습 전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무작위 행동</a:t>
            </a:r>
            <a:r>
              <a:rPr lang="en-US" altLang="ko-KR" sz="1400" dirty="0">
                <a:latin typeface="+mn-ea"/>
              </a:rPr>
              <a:t>)</a:t>
            </a: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+mn-ea"/>
              </a:rPr>
              <a:t>0</a:t>
            </a:r>
            <a:r>
              <a:rPr lang="ko-KR" altLang="en-US" sz="1400" dirty="0">
                <a:latin typeface="+mn-ea"/>
              </a:rPr>
              <a:t>점 돌파 </a:t>
            </a:r>
            <a:r>
              <a:rPr lang="en-US" altLang="ko-KR" sz="1400" dirty="0">
                <a:latin typeface="+mn-ea"/>
              </a:rPr>
              <a:t>: </a:t>
            </a:r>
            <a:r>
              <a:rPr lang="ko-KR" altLang="en-US" sz="1400" dirty="0">
                <a:latin typeface="+mn-ea"/>
              </a:rPr>
              <a:t>약 </a:t>
            </a:r>
            <a:r>
              <a:rPr lang="en-US" altLang="ko-KR" sz="1400" dirty="0">
                <a:latin typeface="+mn-ea"/>
              </a:rPr>
              <a:t>400 </a:t>
            </a:r>
            <a:r>
              <a:rPr lang="ko-KR" altLang="en-US" sz="1400" dirty="0">
                <a:latin typeface="+mn-ea"/>
              </a:rPr>
              <a:t>에피소드 구간 </a:t>
            </a:r>
            <a:r>
              <a:rPr lang="en-US" altLang="ko-KR" sz="1400" dirty="0">
                <a:latin typeface="+mn-ea"/>
              </a:rPr>
              <a:t>(</a:t>
            </a:r>
            <a:r>
              <a:rPr lang="ko-KR" altLang="en-US" sz="1400" dirty="0">
                <a:latin typeface="+mn-ea"/>
              </a:rPr>
              <a:t>안정화 시작</a:t>
            </a:r>
            <a:r>
              <a:rPr lang="en-US" altLang="ko-KR" sz="1400" dirty="0">
                <a:latin typeface="+mn-ea"/>
              </a:rPr>
              <a:t>)</a:t>
            </a: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최종 성능 </a:t>
            </a:r>
            <a:r>
              <a:rPr lang="en-US" altLang="ko-KR" sz="1400" dirty="0">
                <a:latin typeface="+mn-ea"/>
              </a:rPr>
              <a:t>: 1000 </a:t>
            </a:r>
            <a:r>
              <a:rPr lang="ko-KR" altLang="en-US" sz="1400" dirty="0">
                <a:latin typeface="+mn-ea"/>
              </a:rPr>
              <a:t>에피소드 기준 약 </a:t>
            </a:r>
            <a:r>
              <a:rPr lang="en-US" altLang="ko-KR" sz="1400" dirty="0">
                <a:latin typeface="+mn-ea"/>
              </a:rPr>
              <a:t>268.4</a:t>
            </a:r>
            <a:r>
              <a:rPr lang="ko-KR" altLang="en-US" sz="1400" dirty="0">
                <a:latin typeface="+mn-ea"/>
              </a:rPr>
              <a:t>점 달성</a:t>
            </a:r>
            <a:endParaRPr lang="en-US" altLang="ko-KR" sz="1400" dirty="0">
              <a:latin typeface="+mn-ea"/>
            </a:endParaRP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특이사항</a:t>
            </a:r>
            <a:r>
              <a:rPr lang="en-US" altLang="ko-KR" sz="1400" dirty="0">
                <a:latin typeface="+mn-ea"/>
              </a:rPr>
              <a:t>: </a:t>
            </a:r>
            <a:r>
              <a:rPr lang="ko-KR" altLang="en-US" sz="1400" dirty="0">
                <a:latin typeface="+mn-ea"/>
              </a:rPr>
              <a:t>큰 성능 하락 없이 꾸준히 학습됨</a:t>
            </a:r>
            <a:endParaRPr lang="en-US" altLang="ko-KR" sz="1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685384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64F7B-3211-0F77-ECC2-7F70A0CE2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24D9A747-A6F5-E3D3-7A3F-CDA301D11293}"/>
              </a:ext>
            </a:extLst>
          </p:cNvPr>
          <p:cNvSpPr/>
          <p:nvPr/>
        </p:nvSpPr>
        <p:spPr>
          <a:xfrm flipV="1">
            <a:off x="422559" y="1024993"/>
            <a:ext cx="8400765" cy="45719"/>
          </a:xfrm>
          <a:prstGeom prst="rect">
            <a:avLst/>
          </a:prstGeom>
          <a:solidFill>
            <a:srgbClr val="AB1E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C1C1C1"/>
              </a:solidFill>
              <a:latin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FEEDF6-1C5B-BCDB-AF4A-61B7A20743F0}"/>
              </a:ext>
            </a:extLst>
          </p:cNvPr>
          <p:cNvSpPr txBox="1"/>
          <p:nvPr/>
        </p:nvSpPr>
        <p:spPr>
          <a:xfrm>
            <a:off x="422559" y="1206038"/>
            <a:ext cx="84007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Clipping Range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를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0.5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로 과도하게 확장했을 때 학습 곡선의 진동폭이 커지고 정책 붕괴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현상이 발생하여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, PPO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의 안전장치가 필수적임을 입증하였습니다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47D4C5-269F-21C1-E968-479BE2E733E4}"/>
              </a:ext>
            </a:extLst>
          </p:cNvPr>
          <p:cNvSpPr txBox="1"/>
          <p:nvPr/>
        </p:nvSpPr>
        <p:spPr>
          <a:xfrm>
            <a:off x="422559" y="428002"/>
            <a:ext cx="71538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+mn-ea"/>
                <a:cs typeface="72 Black" panose="020B0A04030603020204" pitchFamily="34" charset="0"/>
              </a:rPr>
              <a:t>[</a:t>
            </a:r>
            <a:r>
              <a:rPr lang="ko-KR" altLang="en-US" sz="2400" b="1" dirty="0">
                <a:latin typeface="+mn-ea"/>
                <a:cs typeface="72 Black" panose="020B0A04030603020204" pitchFamily="34" charset="0"/>
              </a:rPr>
              <a:t>실험 </a:t>
            </a:r>
            <a:r>
              <a:rPr lang="en-US" altLang="ko-KR" sz="2400" b="1" dirty="0">
                <a:latin typeface="+mn-ea"/>
                <a:cs typeface="72 Black" panose="020B0A04030603020204" pitchFamily="34" charset="0"/>
              </a:rPr>
              <a:t>2] High Clipping </a:t>
            </a:r>
            <a:r>
              <a:rPr lang="ko-KR" altLang="en-US" sz="2400" b="1" dirty="0">
                <a:latin typeface="+mn-ea"/>
                <a:cs typeface="72 Black" panose="020B0A04030603020204" pitchFamily="34" charset="0"/>
              </a:rPr>
              <a:t>결과</a:t>
            </a:r>
            <a:endParaRPr lang="en-US" altLang="ko-KR" sz="2400" b="1" dirty="0">
              <a:latin typeface="+mn-ea"/>
              <a:cs typeface="72 Black" panose="020B0A04030603020204" pitchFamily="34" charset="0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4483866-2543-CB0D-B1E4-1CB686EB470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5083" y="169895"/>
            <a:ext cx="625398" cy="22289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C69DC9C-48E5-DE27-3373-FCC31B2F5C72}"/>
              </a:ext>
            </a:extLst>
          </p:cNvPr>
          <p:cNvSpPr txBox="1"/>
          <p:nvPr/>
        </p:nvSpPr>
        <p:spPr>
          <a:xfrm>
            <a:off x="7921287" y="6411106"/>
            <a:ext cx="9591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latin typeface="+mn-ea"/>
                <a:cs typeface="72 Black" panose="020B0A04030603020204" pitchFamily="34" charset="0"/>
              </a:rPr>
              <a:t>9</a:t>
            </a:r>
          </a:p>
        </p:txBody>
      </p:sp>
      <p:pic>
        <p:nvPicPr>
          <p:cNvPr id="3" name="그림 2" descr="텍스트, 라인, 그래프, 친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64CF61C-D1B8-C6FB-E262-0D6EB60B12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0481" y="3171106"/>
            <a:ext cx="5400000" cy="32400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2BD86FE-0F61-02D8-1E6B-93B84D8550F4}"/>
                  </a:ext>
                </a:extLst>
              </p:cNvPr>
              <p:cNvSpPr txBox="1"/>
              <p:nvPr/>
            </p:nvSpPr>
            <p:spPr>
              <a:xfrm>
                <a:off x="371618" y="1864584"/>
                <a:ext cx="8400764" cy="17484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400" b="1" dirty="0">
                    <a:latin typeface="+mn-ea"/>
                  </a:rPr>
                  <a:t>주요 지표 </a:t>
                </a:r>
                <a:r>
                  <a:rPr lang="en-US" altLang="ko-KR" sz="1400" b="1" dirty="0">
                    <a:latin typeface="+mn-ea"/>
                  </a:rPr>
                  <a:t>(Key Metrics)</a:t>
                </a:r>
              </a:p>
              <a:p>
                <a:pPr marL="742950" lvl="1" indent="-28575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latin typeface="+mn-ea"/>
                  </a:rPr>
                  <a:t>초기 성장</a:t>
                </a:r>
                <a:r>
                  <a:rPr lang="en-US" altLang="ko-KR" sz="1400" dirty="0">
                    <a:latin typeface="+mn-ea"/>
                  </a:rPr>
                  <a:t>: Baseline</a:t>
                </a:r>
                <a:r>
                  <a:rPr lang="ko-KR" altLang="en-US" sz="1400" dirty="0">
                    <a:latin typeface="+mn-ea"/>
                  </a:rPr>
                  <a:t>보다 다소 가파르게 상승하는 경향 </a:t>
                </a:r>
                <a:r>
                  <a:rPr lang="en-US" altLang="ko-KR" sz="1400" dirty="0">
                    <a:latin typeface="+mn-ea"/>
                  </a:rPr>
                  <a:t>(</a:t>
                </a:r>
                <a:r>
                  <a:rPr lang="ko-KR" altLang="en-US" sz="1400" dirty="0">
                    <a:latin typeface="+mn-ea"/>
                  </a:rPr>
                  <a:t>업데이트 폭이 크기 때문</a:t>
                </a:r>
                <a:r>
                  <a:rPr lang="en-US" altLang="ko-KR" sz="1400" dirty="0">
                    <a:latin typeface="+mn-ea"/>
                  </a:rPr>
                  <a:t>)</a:t>
                </a:r>
              </a:p>
              <a:p>
                <a:pPr marL="742950" lvl="1" indent="-28575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latin typeface="+mn-ea"/>
                  </a:rPr>
                  <a:t>불안정 구간</a:t>
                </a:r>
                <a:r>
                  <a:rPr lang="en-US" altLang="ko-KR" sz="1400" dirty="0">
                    <a:latin typeface="+mn-ea"/>
                  </a:rPr>
                  <a:t>: 600~800 </a:t>
                </a:r>
                <a:r>
                  <a:rPr lang="ko-KR" altLang="en-US" sz="1400" dirty="0">
                    <a:latin typeface="+mn-ea"/>
                  </a:rPr>
                  <a:t>에피소드 구간에서 점수 등락폭이 큼</a:t>
                </a:r>
                <a:endParaRPr lang="en-US" altLang="ko-KR" sz="1400" dirty="0">
                  <a:latin typeface="+mn-ea"/>
                </a:endParaRPr>
              </a:p>
              <a:p>
                <a:pPr marL="742950" lvl="1" indent="-28575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latin typeface="+mn-ea"/>
                  </a:rPr>
                  <a:t>최종 성능</a:t>
                </a:r>
                <a:r>
                  <a:rPr lang="en-US" altLang="ko-KR" sz="1400" dirty="0">
                    <a:latin typeface="+mn-ea"/>
                  </a:rPr>
                  <a:t>: </a:t>
                </a:r>
                <a:r>
                  <a:rPr lang="ko-KR" altLang="en-US" sz="1400" dirty="0">
                    <a:latin typeface="+mn-ea"/>
                  </a:rPr>
                  <a:t>약 </a:t>
                </a:r>
                <a:r>
                  <a:rPr lang="en-US" altLang="ko-KR" sz="1400" dirty="0">
                    <a:latin typeface="+mn-ea"/>
                  </a:rPr>
                  <a:t>272</a:t>
                </a:r>
                <a:r>
                  <a:rPr lang="ko-KR" altLang="en-US" sz="1400" dirty="0">
                    <a:latin typeface="+mn-ea"/>
                  </a:rPr>
                  <a:t>점 </a:t>
                </a:r>
                <a:r>
                  <a:rPr lang="en-US" altLang="ko-KR" sz="1400" dirty="0">
                    <a:latin typeface="+mn-ea"/>
                  </a:rPr>
                  <a:t>(</a:t>
                </a:r>
                <a:r>
                  <a:rPr lang="ko-KR" altLang="en-US" sz="1400" dirty="0">
                    <a:latin typeface="+mn-ea"/>
                  </a:rPr>
                  <a:t>점수는 높으나 과정이 불안정함</a:t>
                </a:r>
                <a:r>
                  <a:rPr lang="en-US" altLang="ko-KR" sz="1400" dirty="0">
                    <a:latin typeface="+mn-ea"/>
                  </a:rPr>
                  <a:t>)</a:t>
                </a:r>
              </a:p>
              <a:p>
                <a:pPr marL="285750" indent="-28575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400" b="1" dirty="0">
                    <a:latin typeface="+mn-ea"/>
                  </a:rPr>
                  <a:t>해석</a:t>
                </a:r>
                <a:r>
                  <a:rPr lang="en-US" altLang="ko-KR" sz="1400" b="1" dirty="0">
                    <a:latin typeface="+mn-ea"/>
                  </a:rPr>
                  <a:t>: </a:t>
                </a:r>
                <a14:m>
                  <m:oMath xmlns:m="http://schemas.openxmlformats.org/officeDocument/2006/math">
                    <m:r>
                      <a:rPr lang="ko-KR" altLang="en-US" sz="1400" b="0" i="1" smtClean="0">
                        <a:latin typeface="+mn-ea"/>
                      </a:rPr>
                      <m:t>𝜀</m:t>
                    </m:r>
                  </m:oMath>
                </a14:m>
                <a:r>
                  <a:rPr lang="ko-KR" altLang="en-US" sz="1400" dirty="0">
                    <a:latin typeface="+mn-ea"/>
                  </a:rPr>
                  <a:t>이 크면 한 번에 많이 학습할 수 있어 운 좋게 점수는 높게 나올 수 있으나</a:t>
                </a:r>
                <a:r>
                  <a:rPr lang="en-US" altLang="ko-KR" sz="1400" dirty="0">
                    <a:latin typeface="+mn-ea"/>
                  </a:rPr>
                  <a:t>, </a:t>
                </a:r>
                <a:r>
                  <a:rPr lang="ko-KR" altLang="en-US" sz="1400" dirty="0">
                    <a:latin typeface="+mn-ea"/>
                  </a:rPr>
                  <a:t>잘못된 정책으로 업데이트될 위험</a:t>
                </a:r>
                <a:r>
                  <a:rPr lang="en-US" altLang="ko-KR" sz="1400" dirty="0">
                    <a:latin typeface="+mn-ea"/>
                  </a:rPr>
                  <a:t>(Risk)</a:t>
                </a:r>
                <a:r>
                  <a:rPr lang="ko-KR" altLang="en-US" sz="1400" dirty="0">
                    <a:latin typeface="+mn-ea"/>
                  </a:rPr>
                  <a:t>이 매우 큼</a:t>
                </a:r>
                <a:r>
                  <a:rPr lang="en-US" altLang="ko-KR" sz="1400" dirty="0">
                    <a:latin typeface="+mn-ea"/>
                  </a:rPr>
                  <a:t>. (</a:t>
                </a:r>
                <a:r>
                  <a:rPr lang="ko-KR" altLang="en-US" sz="1400" dirty="0">
                    <a:latin typeface="+mn-ea"/>
                  </a:rPr>
                  <a:t>안전장치 필수</a:t>
                </a:r>
                <a:r>
                  <a:rPr lang="en-US" altLang="ko-KR" sz="1400" dirty="0">
                    <a:latin typeface="+mn-ea"/>
                  </a:rPr>
                  <a:t>)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2BD86FE-0F61-02D8-1E6B-93B84D8550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618" y="1864584"/>
                <a:ext cx="8400764" cy="1748427"/>
              </a:xfrm>
              <a:prstGeom prst="rect">
                <a:avLst/>
              </a:prstGeom>
              <a:blipFill>
                <a:blip r:embed="rId4"/>
                <a:stretch>
                  <a:fillRect l="-145" b="-209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50059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68E17-6F04-EB53-B58E-25492CB43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DAC08678-B935-0791-4E8A-2505556EAD7F}"/>
              </a:ext>
            </a:extLst>
          </p:cNvPr>
          <p:cNvSpPr/>
          <p:nvPr/>
        </p:nvSpPr>
        <p:spPr>
          <a:xfrm flipV="1">
            <a:off x="422559" y="1024993"/>
            <a:ext cx="8400765" cy="45719"/>
          </a:xfrm>
          <a:prstGeom prst="rect">
            <a:avLst/>
          </a:prstGeom>
          <a:solidFill>
            <a:srgbClr val="AB1E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C1C1C1"/>
              </a:solidFill>
              <a:latin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1FC83F-C8EB-24FE-7F23-D2C1B3D5B1F1}"/>
              </a:ext>
            </a:extLst>
          </p:cNvPr>
          <p:cNvSpPr txBox="1"/>
          <p:nvPr/>
        </p:nvSpPr>
        <p:spPr>
          <a:xfrm>
            <a:off x="422559" y="1206038"/>
            <a:ext cx="84007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탐험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(Entropy) 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비중을 높이고 </a:t>
            </a:r>
            <a:r>
              <a:rPr lang="ko-KR" alt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학습률을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낮춘 실험을 통해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초기 탐색 과정이 길어지지만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Local Minima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를 회피하며 수렴해가는 탐험과 이용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(Exploration-Exploitation)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의 관계를 분석하였습니다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7AAD5B-21E4-69D8-87EF-ADE4CB969E0F}"/>
              </a:ext>
            </a:extLst>
          </p:cNvPr>
          <p:cNvSpPr txBox="1"/>
          <p:nvPr/>
        </p:nvSpPr>
        <p:spPr>
          <a:xfrm>
            <a:off x="422559" y="428002"/>
            <a:ext cx="53835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>
                <a:latin typeface="+mn-ea"/>
                <a:cs typeface="72 Black" panose="020B0A04030603020204" pitchFamily="34" charset="0"/>
              </a:rPr>
              <a:t>[</a:t>
            </a:r>
            <a:r>
              <a:rPr lang="ko-KR" altLang="en-US" sz="2400" b="1">
                <a:latin typeface="+mn-ea"/>
                <a:cs typeface="72 Black" panose="020B0A04030603020204" pitchFamily="34" charset="0"/>
              </a:rPr>
              <a:t>실험 </a:t>
            </a:r>
            <a:r>
              <a:rPr lang="en-US" altLang="ko-KR" sz="2400" b="1">
                <a:latin typeface="+mn-ea"/>
                <a:cs typeface="72 Black" panose="020B0A04030603020204" pitchFamily="34" charset="0"/>
              </a:rPr>
              <a:t>3] High Entropy </a:t>
            </a:r>
            <a:r>
              <a:rPr lang="ko-KR" altLang="en-US" sz="2400" b="1">
                <a:latin typeface="+mn-ea"/>
                <a:cs typeface="72 Black" panose="020B0A04030603020204" pitchFamily="34" charset="0"/>
              </a:rPr>
              <a:t>결과</a:t>
            </a:r>
            <a:endParaRPr lang="en-US" altLang="ko-KR" sz="2400" b="1" dirty="0">
              <a:latin typeface="+mn-ea"/>
              <a:cs typeface="72 Black" panose="020B0A04030603020204" pitchFamily="34" charset="0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882D79A-5AAB-BB19-FE1F-0389042BF23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5083" y="169895"/>
            <a:ext cx="625398" cy="22289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331A079-0A31-E9B3-6DD8-43E19634FA88}"/>
              </a:ext>
            </a:extLst>
          </p:cNvPr>
          <p:cNvSpPr txBox="1"/>
          <p:nvPr/>
        </p:nvSpPr>
        <p:spPr>
          <a:xfrm>
            <a:off x="7921287" y="6411106"/>
            <a:ext cx="9591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latin typeface="+mn-ea"/>
                <a:cs typeface="72 Black" panose="020B0A04030603020204" pitchFamily="34" charset="0"/>
              </a:rPr>
              <a:t>10</a:t>
            </a:r>
          </a:p>
        </p:txBody>
      </p:sp>
      <p:pic>
        <p:nvPicPr>
          <p:cNvPr id="3" name="그림 2" descr="텍스트, 친필, 라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6F015DC-BE48-B385-F8D2-955E89A08D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3323" y="3171106"/>
            <a:ext cx="5400000" cy="3240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FE7DB73-B7EC-EB84-6AA0-6673E0BCEA23}"/>
              </a:ext>
            </a:extLst>
          </p:cNvPr>
          <p:cNvSpPr txBox="1"/>
          <p:nvPr/>
        </p:nvSpPr>
        <p:spPr>
          <a:xfrm>
            <a:off x="371618" y="1864584"/>
            <a:ext cx="8400764" cy="14683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1400" b="1" dirty="0">
                <a:latin typeface="+mn-ea"/>
              </a:rPr>
              <a:t>주요 지표 </a:t>
            </a:r>
            <a:r>
              <a:rPr lang="en-US" altLang="ko-KR" sz="1400" b="1" dirty="0">
                <a:latin typeface="+mn-ea"/>
              </a:rPr>
              <a:t>(Key Metrics)</a:t>
            </a: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빠른 초기 수렴</a:t>
            </a:r>
            <a:r>
              <a:rPr lang="en-US" altLang="ko-KR" sz="1400" dirty="0">
                <a:latin typeface="+mn-ea"/>
              </a:rPr>
              <a:t>: 200~300 </a:t>
            </a:r>
            <a:r>
              <a:rPr lang="ko-KR" altLang="en-US" sz="1400" dirty="0">
                <a:latin typeface="+mn-ea"/>
              </a:rPr>
              <a:t>에피소드 만에 빠르게 점수 상승 </a:t>
            </a:r>
            <a:r>
              <a:rPr lang="en-US" altLang="ko-KR" sz="1400" dirty="0">
                <a:latin typeface="+mn-ea"/>
              </a:rPr>
              <a:t>(</a:t>
            </a:r>
            <a:r>
              <a:rPr lang="ko-KR" altLang="en-US" sz="1400" dirty="0">
                <a:latin typeface="+mn-ea"/>
              </a:rPr>
              <a:t>탐험을 안 하므로 쉬운 길만 선택</a:t>
            </a:r>
            <a:r>
              <a:rPr lang="en-US" altLang="ko-KR" sz="1400" dirty="0">
                <a:latin typeface="+mn-ea"/>
              </a:rPr>
              <a:t>)</a:t>
            </a: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성능 정체 </a:t>
            </a:r>
            <a:r>
              <a:rPr lang="en-US" altLang="ko-KR" sz="1400" dirty="0">
                <a:latin typeface="+mn-ea"/>
              </a:rPr>
              <a:t>(Plateau): 600 </a:t>
            </a:r>
            <a:r>
              <a:rPr lang="ko-KR" altLang="en-US" sz="1400" dirty="0">
                <a:latin typeface="+mn-ea"/>
              </a:rPr>
              <a:t>에피소드 이후 점수 상승폭 둔화</a:t>
            </a:r>
            <a:endParaRPr lang="en-US" altLang="ko-KR" sz="1400" dirty="0">
              <a:latin typeface="+mn-ea"/>
            </a:endParaRP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최종 성능</a:t>
            </a:r>
            <a:r>
              <a:rPr lang="en-US" altLang="ko-KR" sz="1400" dirty="0">
                <a:latin typeface="+mn-ea"/>
              </a:rPr>
              <a:t>: </a:t>
            </a:r>
            <a:r>
              <a:rPr lang="ko-KR" altLang="en-US" sz="1400" dirty="0">
                <a:latin typeface="+mn-ea"/>
              </a:rPr>
              <a:t>약 </a:t>
            </a:r>
            <a:r>
              <a:rPr lang="en-US" altLang="ko-KR" sz="1400" dirty="0">
                <a:latin typeface="+mn-ea"/>
              </a:rPr>
              <a:t>232.9</a:t>
            </a:r>
            <a:r>
              <a:rPr lang="ko-KR" altLang="en-US" sz="1400" dirty="0">
                <a:latin typeface="+mn-ea"/>
              </a:rPr>
              <a:t>점 </a:t>
            </a:r>
            <a:r>
              <a:rPr lang="en-US" altLang="ko-KR" sz="1400" dirty="0">
                <a:latin typeface="+mn-ea"/>
              </a:rPr>
              <a:t>(Baseline 268</a:t>
            </a:r>
            <a:r>
              <a:rPr lang="ko-KR" altLang="en-US" sz="1400" dirty="0">
                <a:latin typeface="+mn-ea"/>
              </a:rPr>
              <a:t>점 대비 약 </a:t>
            </a:r>
            <a:r>
              <a:rPr lang="en-US" altLang="ko-KR" sz="1400" dirty="0">
                <a:latin typeface="+mn-ea"/>
              </a:rPr>
              <a:t>-35</a:t>
            </a:r>
            <a:r>
              <a:rPr lang="ko-KR" altLang="en-US" sz="1400" dirty="0">
                <a:latin typeface="+mn-ea"/>
              </a:rPr>
              <a:t>점 낮음</a:t>
            </a:r>
            <a:r>
              <a:rPr lang="en-US" altLang="ko-KR" sz="1400" dirty="0">
                <a:latin typeface="+mn-ea"/>
              </a:rPr>
              <a:t>)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1400" b="1" dirty="0">
                <a:latin typeface="+mn-ea"/>
              </a:rPr>
              <a:t>해석</a:t>
            </a:r>
            <a:r>
              <a:rPr lang="en-US" altLang="ko-KR" sz="1400" b="1" dirty="0">
                <a:latin typeface="+mn-ea"/>
              </a:rPr>
              <a:t>:</a:t>
            </a:r>
            <a:r>
              <a:rPr lang="en-US" altLang="ko-KR" sz="1400" dirty="0">
                <a:latin typeface="+mn-ea"/>
              </a:rPr>
              <a:t> </a:t>
            </a:r>
            <a:r>
              <a:rPr lang="ko-KR" altLang="en-US" sz="1400" dirty="0">
                <a:latin typeface="+mn-ea"/>
              </a:rPr>
              <a:t>다양한 착륙 방법을 시도하지 않고</a:t>
            </a:r>
            <a:r>
              <a:rPr lang="en-US" altLang="ko-KR" sz="1400" dirty="0">
                <a:latin typeface="+mn-ea"/>
              </a:rPr>
              <a:t> '</a:t>
            </a:r>
            <a:r>
              <a:rPr lang="ko-KR" altLang="en-US" sz="1400" dirty="0">
                <a:latin typeface="+mn-ea"/>
              </a:rPr>
              <a:t>대충 안전하게 내리는</a:t>
            </a:r>
            <a:r>
              <a:rPr lang="en-US" altLang="ko-KR" sz="1400" dirty="0">
                <a:latin typeface="+mn-ea"/>
              </a:rPr>
              <a:t>' </a:t>
            </a:r>
            <a:r>
              <a:rPr lang="ko-KR" altLang="en-US" sz="1400" dirty="0">
                <a:latin typeface="+mn-ea"/>
              </a:rPr>
              <a:t>방식에 고착화됨</a:t>
            </a:r>
            <a:r>
              <a:rPr lang="en-US" altLang="ko-KR" sz="1400" dirty="0"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444067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ADB1A9-90C8-47BE-AD0D-83EDF3B0B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E4A4DA62-1752-F314-C9BB-8A0C8F8D7A4A}"/>
              </a:ext>
            </a:extLst>
          </p:cNvPr>
          <p:cNvSpPr/>
          <p:nvPr/>
        </p:nvSpPr>
        <p:spPr>
          <a:xfrm flipV="1">
            <a:off x="422559" y="1024993"/>
            <a:ext cx="8400765" cy="45719"/>
          </a:xfrm>
          <a:prstGeom prst="rect">
            <a:avLst/>
          </a:prstGeom>
          <a:solidFill>
            <a:srgbClr val="AB1E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C1C1C1"/>
              </a:solidFill>
              <a:latin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9DD13F-E621-B83D-869F-9F50B51A0405}"/>
              </a:ext>
            </a:extLst>
          </p:cNvPr>
          <p:cNvSpPr txBox="1"/>
          <p:nvPr/>
        </p:nvSpPr>
        <p:spPr>
          <a:xfrm>
            <a:off x="422559" y="1206038"/>
            <a:ext cx="84007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세 가지 실험 시나리오의 학습 곡선을 통합 비교한 결과</a:t>
            </a:r>
            <a:r>
              <a:rPr lang="en-US" altLang="ko-KR" sz="14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, </a:t>
            </a:r>
            <a:r>
              <a:rPr lang="ko-KR" alt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적절한 </a:t>
            </a:r>
            <a:r>
              <a:rPr lang="en-US" altLang="ko-KR" sz="14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Clipping </a:t>
            </a:r>
            <a:r>
              <a:rPr lang="ko-KR" alt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비율이 학습의 수렴 속도와 최종 성능 안정성에 가장 결정적인 요인임을 확인하였습니다</a:t>
            </a:r>
            <a:r>
              <a:rPr lang="en-US" altLang="ko-KR" sz="14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.</a:t>
            </a:r>
            <a:endParaRPr lang="en-US" altLang="ko-KR" sz="14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A8A137-A04B-7C78-DB0D-518F80BF15F0}"/>
              </a:ext>
            </a:extLst>
          </p:cNvPr>
          <p:cNvSpPr txBox="1"/>
          <p:nvPr/>
        </p:nvSpPr>
        <p:spPr>
          <a:xfrm>
            <a:off x="422559" y="428002"/>
            <a:ext cx="53835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>
                <a:latin typeface="+mn-ea"/>
                <a:cs typeface="72 Black" panose="020B0A04030603020204" pitchFamily="34" charset="0"/>
              </a:rPr>
              <a:t>종합 비교 분석</a:t>
            </a:r>
            <a:endParaRPr lang="en-US" altLang="ko-KR" sz="2400" b="1" dirty="0">
              <a:latin typeface="+mn-ea"/>
              <a:cs typeface="72 Black" panose="020B0A04030603020204" pitchFamily="34" charset="0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42D14E3-2F3D-FF18-9FD6-EA9B75B58C4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5083" y="169895"/>
            <a:ext cx="625398" cy="22289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6DB280F-3793-7721-EBBB-6CC76203229B}"/>
              </a:ext>
            </a:extLst>
          </p:cNvPr>
          <p:cNvSpPr txBox="1"/>
          <p:nvPr/>
        </p:nvSpPr>
        <p:spPr>
          <a:xfrm>
            <a:off x="7921287" y="6411106"/>
            <a:ext cx="9591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latin typeface="+mn-ea"/>
                <a:cs typeface="72 Black" panose="020B0A04030603020204" pitchFamily="34" charset="0"/>
              </a:rPr>
              <a:t>11</a:t>
            </a:r>
          </a:p>
        </p:txBody>
      </p:sp>
      <p:pic>
        <p:nvPicPr>
          <p:cNvPr id="3" name="그림 2" descr="텍스트, 그래프, 라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12E8860-C35C-4851-B537-B6AE7759CE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2700" y="1864584"/>
            <a:ext cx="5438599" cy="343451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5FF6E45-931C-339E-5C4D-1435C7B7816C}"/>
              </a:ext>
            </a:extLst>
          </p:cNvPr>
          <p:cNvSpPr txBox="1"/>
          <p:nvPr/>
        </p:nvSpPr>
        <p:spPr>
          <a:xfrm>
            <a:off x="1770112" y="5434423"/>
            <a:ext cx="6035159" cy="11817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+mn-ea"/>
              </a:rPr>
              <a:t>Blue (Baseline): </a:t>
            </a:r>
            <a:r>
              <a:rPr lang="ko-KR" altLang="en-US" sz="1400" dirty="0">
                <a:latin typeface="+mn-ea"/>
              </a:rPr>
              <a:t>꾸준하고 안정적인 상승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가장 높은 최종 점수</a:t>
            </a:r>
            <a:endParaRPr lang="en-US" altLang="ko-KR" sz="1400" dirty="0">
              <a:latin typeface="+mn-ea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+mn-ea"/>
              </a:rPr>
              <a:t>Red (High Clip): </a:t>
            </a:r>
            <a:r>
              <a:rPr lang="ko-KR" altLang="en-US" sz="1400" dirty="0">
                <a:latin typeface="+mn-ea"/>
              </a:rPr>
              <a:t>높은 변동성</a:t>
            </a:r>
            <a:r>
              <a:rPr lang="en-US" altLang="ko-KR" sz="1400" dirty="0">
                <a:latin typeface="+mn-ea"/>
              </a:rPr>
              <a:t>(High Variance)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+mn-ea"/>
              </a:rPr>
              <a:t>Green (No Entropy): </a:t>
            </a:r>
            <a:r>
              <a:rPr lang="ko-KR" altLang="en-US" sz="1400" dirty="0">
                <a:latin typeface="+mn-ea"/>
              </a:rPr>
              <a:t>빠른 초기 상승 </a:t>
            </a:r>
            <a:r>
              <a:rPr lang="en-US" altLang="ko-KR" sz="1400" dirty="0">
                <a:latin typeface="+mn-ea"/>
              </a:rPr>
              <a:t>but </a:t>
            </a:r>
            <a:r>
              <a:rPr lang="ko-KR" altLang="en-US" sz="1400" dirty="0">
                <a:latin typeface="+mn-ea"/>
              </a:rPr>
              <a:t>낮은 최종 점수 </a:t>
            </a:r>
            <a:r>
              <a:rPr lang="en-US" altLang="ko-KR" sz="1400" dirty="0">
                <a:latin typeface="+mn-ea"/>
              </a:rPr>
              <a:t>(Early Plateau)</a:t>
            </a:r>
          </a:p>
        </p:txBody>
      </p:sp>
    </p:spTree>
    <p:extLst>
      <p:ext uri="{BB962C8B-B14F-4D97-AF65-F5344CB8AC3E}">
        <p14:creationId xmlns:p14="http://schemas.microsoft.com/office/powerpoint/2010/main" val="20507899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00128-D8E7-7BDA-2B98-C3A033838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85F7B2C4-4D9B-FFA2-D414-A914B78D0C1F}"/>
              </a:ext>
            </a:extLst>
          </p:cNvPr>
          <p:cNvSpPr/>
          <p:nvPr/>
        </p:nvSpPr>
        <p:spPr>
          <a:xfrm flipV="1">
            <a:off x="422559" y="1024993"/>
            <a:ext cx="8400765" cy="45719"/>
          </a:xfrm>
          <a:prstGeom prst="rect">
            <a:avLst/>
          </a:prstGeom>
          <a:solidFill>
            <a:srgbClr val="AB1E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C1C1C1"/>
              </a:solidFill>
              <a:latin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B4DC07-5CDB-DC8E-6A4E-27D246FA5574}"/>
              </a:ext>
            </a:extLst>
          </p:cNvPr>
          <p:cNvSpPr txBox="1"/>
          <p:nvPr/>
        </p:nvSpPr>
        <p:spPr>
          <a:xfrm>
            <a:off x="422559" y="1206038"/>
            <a:ext cx="84007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본 프로젝트를 통해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PPO 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논문의 성능을 성공적으로 재연하였으며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실험 데이터 기반으로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Clipping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과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Entropy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가 학습의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'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질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(Quality)'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을 결정하는 핵심 요소임을 확인하였습니다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6AC31C-1A37-F26A-7E27-43FD71A90E5B}"/>
              </a:ext>
            </a:extLst>
          </p:cNvPr>
          <p:cNvSpPr txBox="1"/>
          <p:nvPr/>
        </p:nvSpPr>
        <p:spPr>
          <a:xfrm>
            <a:off x="422559" y="428002"/>
            <a:ext cx="53835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+mn-ea"/>
                <a:cs typeface="72 Black" panose="020B0A04030603020204" pitchFamily="34" charset="0"/>
              </a:rPr>
              <a:t>결론</a:t>
            </a:r>
            <a:endParaRPr lang="en-US" altLang="ko-KR" sz="2400" b="1" dirty="0">
              <a:latin typeface="+mn-ea"/>
              <a:cs typeface="72 Black" panose="020B0A04030603020204" pitchFamily="34" charset="0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B408C30-FCEF-C922-16AC-2DFE011598D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5083" y="169895"/>
            <a:ext cx="625398" cy="22289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295568C-641D-B586-2814-86D29820C26E}"/>
              </a:ext>
            </a:extLst>
          </p:cNvPr>
          <p:cNvSpPr txBox="1"/>
          <p:nvPr/>
        </p:nvSpPr>
        <p:spPr>
          <a:xfrm>
            <a:off x="7921287" y="6411106"/>
            <a:ext cx="9591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latin typeface="+mn-ea"/>
                <a:cs typeface="72 Black" panose="020B0A04030603020204" pitchFamily="34" charset="0"/>
              </a:rPr>
              <a:t>12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91A8E19-EA6B-8339-B818-3CC10DF07C67}"/>
              </a:ext>
            </a:extLst>
          </p:cNvPr>
          <p:cNvSpPr txBox="1"/>
          <p:nvPr/>
        </p:nvSpPr>
        <p:spPr>
          <a:xfrm>
            <a:off x="371618" y="1864584"/>
            <a:ext cx="8400764" cy="2308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1400" b="1" dirty="0">
                <a:latin typeface="+mn-ea"/>
              </a:rPr>
              <a:t>연구 성과</a:t>
            </a:r>
            <a:endParaRPr lang="en-US" altLang="ko-KR" sz="1400" b="1" dirty="0">
              <a:latin typeface="+mn-ea"/>
            </a:endParaRPr>
          </a:p>
          <a:p>
            <a:pPr marL="800100" lvl="1" indent="-342900">
              <a:lnSpc>
                <a:spcPct val="130000"/>
              </a:lnSpc>
              <a:buAutoNum type="arabicPeriod"/>
            </a:pPr>
            <a:r>
              <a:rPr lang="ko-KR" altLang="en-US" sz="1400" dirty="0">
                <a:latin typeface="+mn-ea"/>
              </a:rPr>
              <a:t>논문 재연 성공</a:t>
            </a:r>
            <a:r>
              <a:rPr lang="en-US" altLang="ko-KR" sz="1400" dirty="0">
                <a:latin typeface="+mn-ea"/>
              </a:rPr>
              <a:t>: </a:t>
            </a:r>
            <a:r>
              <a:rPr lang="en-US" altLang="ko-KR" sz="1400" i="1" dirty="0">
                <a:latin typeface="+mn-ea"/>
              </a:rPr>
              <a:t>LunarLander-v2</a:t>
            </a:r>
            <a:r>
              <a:rPr lang="en-US" altLang="ko-KR" sz="1400" dirty="0">
                <a:latin typeface="+mn-ea"/>
              </a:rPr>
              <a:t> </a:t>
            </a:r>
            <a:r>
              <a:rPr lang="ko-KR" altLang="en-US" sz="1400" dirty="0">
                <a:latin typeface="+mn-ea"/>
              </a:rPr>
              <a:t>해결</a:t>
            </a:r>
            <a:r>
              <a:rPr lang="en-US" altLang="ko-KR" sz="1400" dirty="0">
                <a:latin typeface="+mn-ea"/>
              </a:rPr>
              <a:t>.</a:t>
            </a:r>
            <a:r>
              <a:rPr lang="ko-KR" altLang="en-US" sz="1400" dirty="0">
                <a:latin typeface="+mn-ea"/>
              </a:rPr>
              <a:t> </a:t>
            </a:r>
            <a:r>
              <a:rPr lang="en-US" altLang="ko-KR" sz="1400" dirty="0">
                <a:latin typeface="+mn-ea"/>
              </a:rPr>
              <a:t>(Solved, Avg Reward &gt; 200)</a:t>
            </a:r>
          </a:p>
          <a:p>
            <a:pPr marL="800100" lvl="1" indent="-342900">
              <a:lnSpc>
                <a:spcPct val="130000"/>
              </a:lnSpc>
              <a:buAutoNum type="arabicPeriod"/>
            </a:pPr>
            <a:r>
              <a:rPr lang="ko-KR" altLang="en-US" sz="1400" dirty="0">
                <a:latin typeface="+mn-ea"/>
              </a:rPr>
              <a:t>데이터 기반 분석</a:t>
            </a:r>
            <a:r>
              <a:rPr lang="en-US" altLang="ko-KR" sz="1400" dirty="0">
                <a:latin typeface="+mn-ea"/>
              </a:rPr>
              <a:t>: 3,000 </a:t>
            </a:r>
            <a:r>
              <a:rPr lang="ko-KR" altLang="en-US" sz="1400" dirty="0">
                <a:latin typeface="+mn-ea"/>
              </a:rPr>
              <a:t>에피소드 규모의 실험 데이터를 통해 </a:t>
            </a:r>
            <a:r>
              <a:rPr lang="ko-KR" altLang="en-US" sz="1400" dirty="0" err="1">
                <a:latin typeface="+mn-ea"/>
              </a:rPr>
              <a:t>하이퍼파라미터</a:t>
            </a:r>
            <a:r>
              <a:rPr lang="ko-KR" altLang="en-US" sz="1400" dirty="0">
                <a:latin typeface="+mn-ea"/>
              </a:rPr>
              <a:t> 영향력 정량화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800100" lvl="1" indent="-342900">
              <a:lnSpc>
                <a:spcPct val="130000"/>
              </a:lnSpc>
              <a:buAutoNum type="arabicPeriod"/>
            </a:pPr>
            <a:r>
              <a:rPr lang="ko-KR" altLang="en-US" sz="1400" dirty="0">
                <a:latin typeface="+mn-ea"/>
              </a:rPr>
              <a:t>시스템 구축</a:t>
            </a:r>
            <a:r>
              <a:rPr lang="en-US" altLang="ko-KR" sz="1400" dirty="0">
                <a:latin typeface="+mn-ea"/>
              </a:rPr>
              <a:t>: </a:t>
            </a:r>
            <a:r>
              <a:rPr lang="en-US" altLang="ko-KR" sz="1400" dirty="0" err="1">
                <a:latin typeface="+mn-ea"/>
              </a:rPr>
              <a:t>Streamlit</a:t>
            </a:r>
            <a:r>
              <a:rPr lang="en-US" altLang="ko-KR" sz="1400" dirty="0">
                <a:latin typeface="+mn-ea"/>
              </a:rPr>
              <a:t> </a:t>
            </a:r>
            <a:r>
              <a:rPr lang="ko-KR" altLang="en-US" sz="1400" dirty="0">
                <a:latin typeface="+mn-ea"/>
              </a:rPr>
              <a:t>기반의 실시간 강화학습 모니터링 환경 구현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342900" indent="-342900">
              <a:lnSpc>
                <a:spcPct val="130000"/>
              </a:lnSpc>
              <a:buAutoNum type="arabicPeriod"/>
            </a:pPr>
            <a:endParaRPr lang="en-US" altLang="ko-KR" sz="1400" dirty="0">
              <a:latin typeface="+mn-ea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1400" b="1" dirty="0">
                <a:latin typeface="+mn-ea"/>
              </a:rPr>
              <a:t>한계점 및 향후 과제</a:t>
            </a:r>
            <a:endParaRPr lang="en-US" altLang="ko-KR" sz="1400" b="1" dirty="0">
              <a:latin typeface="+mn-ea"/>
            </a:endParaRP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+mn-ea"/>
              </a:rPr>
              <a:t>Random Seed: 1</a:t>
            </a:r>
            <a:r>
              <a:rPr lang="ko-KR" altLang="en-US" sz="1400" dirty="0">
                <a:latin typeface="+mn-ea"/>
              </a:rPr>
              <a:t>회성 실험의 한계 존재</a:t>
            </a:r>
            <a:r>
              <a:rPr lang="en-US" altLang="ko-KR" sz="1400" dirty="0">
                <a:latin typeface="+mn-ea"/>
              </a:rPr>
              <a:t>. Seed</a:t>
            </a:r>
            <a:r>
              <a:rPr lang="ko-KR" altLang="en-US" sz="1400" dirty="0">
                <a:latin typeface="+mn-ea"/>
              </a:rPr>
              <a:t>를 늘려 신뢰구간 확보 필요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환경 확장</a:t>
            </a:r>
            <a:r>
              <a:rPr lang="en-US" altLang="ko-KR" sz="1400" dirty="0">
                <a:latin typeface="+mn-ea"/>
              </a:rPr>
              <a:t>: </a:t>
            </a:r>
            <a:r>
              <a:rPr lang="ko-KR" altLang="en-US" sz="1400" dirty="0">
                <a:latin typeface="+mn-ea"/>
              </a:rPr>
              <a:t>이산 행동을 넘어 연속 행동</a:t>
            </a:r>
            <a:r>
              <a:rPr lang="en-US" altLang="ko-KR" sz="1400" dirty="0">
                <a:latin typeface="+mn-ea"/>
              </a:rPr>
              <a:t> </a:t>
            </a:r>
            <a:r>
              <a:rPr lang="ko-KR" altLang="en-US" sz="1400" dirty="0">
                <a:latin typeface="+mn-ea"/>
              </a:rPr>
              <a:t>환경에서의 검증 필요</a:t>
            </a:r>
            <a:endParaRPr lang="en-US" altLang="ko-KR" sz="1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453250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D9E360B-066C-7C7B-2B65-DBDE55956E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57" y="13648"/>
            <a:ext cx="9144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89A877D-068A-244E-A2EB-6A324AC824DC}"/>
              </a:ext>
            </a:extLst>
          </p:cNvPr>
          <p:cNvSpPr txBox="1"/>
          <p:nvPr/>
        </p:nvSpPr>
        <p:spPr>
          <a:xfrm>
            <a:off x="2153255" y="3044279"/>
            <a:ext cx="486220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400" dirty="0">
                <a:latin typeface="+mj-ea"/>
                <a:ea typeface="+mj-ea"/>
                <a:cs typeface="72 Black" panose="020B0A04030603020204" pitchFamily="34" charset="0"/>
              </a:rPr>
              <a:t>감사합니다</a:t>
            </a:r>
            <a:r>
              <a:rPr lang="en-US" altLang="ko-KR" sz="4400" dirty="0">
                <a:latin typeface="+mj-ea"/>
                <a:ea typeface="+mj-ea"/>
                <a:cs typeface="72 Black" panose="020B0A04030603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059518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3232</TotalTime>
  <Words>1348</Words>
  <Application>Microsoft Office PowerPoint</Application>
  <PresentationFormat>화면 슬라이드 쇼(4:3)</PresentationFormat>
  <Paragraphs>138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6" baseType="lpstr">
      <vt:lpstr>SOGANG UNIVERSITY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SOGANG</dc:creator>
  <cp:lastModifiedBy>윤희 김</cp:lastModifiedBy>
  <cp:revision>44</cp:revision>
  <dcterms:created xsi:type="dcterms:W3CDTF">2024-11-19T02:00:03Z</dcterms:created>
  <dcterms:modified xsi:type="dcterms:W3CDTF">2025-12-07T06:31:37Z</dcterms:modified>
</cp:coreProperties>
</file>